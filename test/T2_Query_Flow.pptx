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2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B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19456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</a:rPr>
              <a:t>T2 Query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5204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1">
                <a:solidFill>
                  <a:srgbClr val="99CCFF"/>
                </a:solidFill>
              </a:rPr>
              <a:t>"Which DU manages MLS_MGR_01?"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5DD88"/>
                </a:solidFill>
              </a:rPr>
              <a:t>Tool: query_network  →  reverse lookup: scan DU cell_ids[] to find MLS_MGR_01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212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799BB"/>
                </a:solidFill>
              </a:rPr>
              <a:t>4G/5G NSA Network  ·  Malleswaram  ·  3 DUs  ·  30 Cells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A2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T2 Query Flow — System Data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9144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88CCFF"/>
                </a:solidFill>
              </a:rPr>
              <a:t>query_network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914400"/>
            <a:ext cx="11292840" cy="1645920"/>
          </a:xfrm>
          <a:prstGeom prst="rect">
            <a:avLst/>
          </a:prstGeom>
          <a:solidFill>
            <a:srgbClr val="FFF0E8"/>
          </a:solidFill>
          <a:ln w="6350">
            <a:solidFill>
              <a:srgbClr val="DDA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2560320"/>
            <a:ext cx="11292840" cy="1783080"/>
          </a:xfrm>
          <a:prstGeom prst="rect">
            <a:avLst/>
          </a:prstGeom>
          <a:solidFill>
            <a:srgbClr val="F2EBFF"/>
          </a:solidFill>
          <a:ln w="6350">
            <a:solidFill>
              <a:srgbClr val="AA8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8680" y="4343400"/>
            <a:ext cx="11292840" cy="2423160"/>
          </a:xfrm>
          <a:prstGeom prst="rect">
            <a:avLst/>
          </a:prstGeom>
          <a:solidFill>
            <a:srgbClr val="E0F5F7"/>
          </a:solidFill>
          <a:ln w="6350">
            <a:solidFill>
              <a:srgbClr val="77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0" y="1234440"/>
            <a:ext cx="8961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C45008"/>
                </a:solidFill>
              </a:rPr>
              <a:t>USER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2834640"/>
            <a:ext cx="8961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5A238C"/>
                </a:solidFill>
              </a:rPr>
              <a:t>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4937760"/>
            <a:ext cx="8961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07E8A"/>
                </a:solidFill>
              </a:rPr>
              <a:t>DATA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5840" y="1051560"/>
            <a:ext cx="1371600" cy="777240"/>
          </a:xfrm>
          <a:prstGeom prst="roundRect">
            <a:avLst/>
          </a:prstGeom>
          <a:solidFill>
            <a:srgbClr val="C4500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User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query input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17520" y="1051560"/>
            <a:ext cx="1737360" cy="777240"/>
          </a:xfrm>
          <a:prstGeom prst="roundRect">
            <a:avLst/>
          </a:prstGeom>
          <a:solidFill>
            <a:srgbClr val="175CA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chat.py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localhost:8082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5840" y="2697480"/>
            <a:ext cx="2011680" cy="777240"/>
          </a:xfrm>
          <a:prstGeom prst="roundRect">
            <a:avLst/>
          </a:prstGeom>
          <a:solidFill>
            <a:srgbClr val="0A295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Orchestrator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port 8082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31920" y="2697480"/>
            <a:ext cx="2377440" cy="777240"/>
          </a:xfrm>
          <a:prstGeom prst="roundRect">
            <a:avLst/>
          </a:prstGeom>
          <a:solidFill>
            <a:srgbClr val="5A238C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Gemini LLM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gemini-2.5-flash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5840" y="4480560"/>
            <a:ext cx="2011680" cy="777240"/>
          </a:xfrm>
          <a:prstGeom prst="roundRect">
            <a:avLst/>
          </a:prstGeom>
          <a:solidFill>
            <a:srgbClr val="007E8A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Controller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port 8080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49039" y="5349240"/>
            <a:ext cx="2377440" cy="777240"/>
          </a:xfrm>
          <a:prstGeom prst="roundRect">
            <a:avLst/>
          </a:prstGeom>
          <a:solidFill>
            <a:srgbClr val="1B6F4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topology.json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dus{du_id:{cell_ids:[]}}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0" y="5349240"/>
            <a:ext cx="2011680" cy="777240"/>
          </a:xfrm>
          <a:prstGeom prst="roundRect">
            <a:avLst/>
          </a:prstGeom>
          <a:solidFill>
            <a:srgbClr val="1B6F4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InfluxDB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port 8086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377440" y="1440180"/>
            <a:ext cx="640080" cy="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377440" y="109728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75CA6"/>
                </a:solidFill>
              </a:rPr>
              <a:t>HTTP
POST</a:t>
            </a:r>
          </a:p>
        </p:txBody>
      </p:sp>
      <p:cxnSp>
        <p:nvCxnSpPr>
          <p:cNvPr id="21" name="Connector 20"/>
          <p:cNvCxnSpPr/>
          <p:nvPr/>
        </p:nvCxnSpPr>
        <p:spPr>
          <a:xfrm flipH="1">
            <a:off x="2011680" y="1828800"/>
            <a:ext cx="1874520" cy="86868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468880" y="21488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75CA6"/>
                </a:solidFill>
              </a:rPr>
              <a:t>POST /chat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017520" y="2834640"/>
            <a:ext cx="914400" cy="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017520" y="2514600"/>
            <a:ext cx="960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75CA6"/>
                </a:solidFill>
              </a:rPr>
              <a:t>prompt +
snapshot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3017520" y="3246120"/>
            <a:ext cx="914400" cy="0"/>
          </a:xfrm>
          <a:prstGeom prst="line">
            <a:avLst/>
          </a:prstGeom>
          <a:ln w="22225">
            <a:solidFill>
              <a:srgbClr val="1B6F4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2971800" y="329184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B6F42"/>
                </a:solidFill>
              </a:rPr>
              <a:t>fn call:
query_network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011680" y="3474720"/>
            <a:ext cx="0" cy="100584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2057400" y="39319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75CA6"/>
                </a:solidFill>
              </a:rPr>
              <a:t>GET /network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286000" y="5257800"/>
            <a:ext cx="1463039" cy="32004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2423160" y="502920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75CA6"/>
                </a:solidFill>
              </a:rPr>
              <a:t>read DU
cell_ids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2743200" y="5120640"/>
            <a:ext cx="4114800" cy="32004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389120" y="48920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75CA6"/>
                </a:solidFill>
              </a:rPr>
              <a:t>Flux query: KPIs per cell</a:t>
            </a:r>
          </a:p>
        </p:txBody>
      </p:sp>
      <p:cxnSp>
        <p:nvCxnSpPr>
          <p:cNvPr id="33" name="Connector 32"/>
          <p:cNvCxnSpPr/>
          <p:nvPr/>
        </p:nvCxnSpPr>
        <p:spPr>
          <a:xfrm flipH="1" flipV="1">
            <a:off x="2834640" y="4572000"/>
            <a:ext cx="1371600" cy="777240"/>
          </a:xfrm>
          <a:prstGeom prst="line">
            <a:avLst/>
          </a:prstGeom>
          <a:ln w="22225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3200400" y="482803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B6F42"/>
                </a:solidFill>
              </a:rPr>
              <a:t>DU→cell map</a:t>
            </a:r>
          </a:p>
        </p:txBody>
      </p:sp>
      <p:cxnSp>
        <p:nvCxnSpPr>
          <p:cNvPr id="35" name="Connector 34"/>
          <p:cNvCxnSpPr/>
          <p:nvPr/>
        </p:nvCxnSpPr>
        <p:spPr>
          <a:xfrm flipH="1" flipV="1">
            <a:off x="2926080" y="4754880"/>
            <a:ext cx="4114800" cy="594360"/>
          </a:xfrm>
          <a:prstGeom prst="line">
            <a:avLst/>
          </a:prstGeom>
          <a:ln w="22225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663440" y="51663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B6F42"/>
                </a:solidFill>
              </a:rPr>
              <a:t>KPIs per cell</a:t>
            </a:r>
          </a:p>
        </p:txBody>
      </p:sp>
      <p:cxnSp>
        <p:nvCxnSpPr>
          <p:cNvPr id="37" name="Connector 36"/>
          <p:cNvCxnSpPr/>
          <p:nvPr/>
        </p:nvCxnSpPr>
        <p:spPr>
          <a:xfrm flipV="1">
            <a:off x="1737360" y="3474720"/>
            <a:ext cx="0" cy="1005840"/>
          </a:xfrm>
          <a:prstGeom prst="line">
            <a:avLst/>
          </a:prstGeom>
          <a:ln w="22225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91440" y="3840480"/>
            <a:ext cx="1600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B6F42"/>
                </a:solidFill>
              </a:rPr>
              <a:t>topology +
DU map</a:t>
            </a:r>
          </a:p>
        </p:txBody>
      </p:sp>
      <p:cxnSp>
        <p:nvCxnSpPr>
          <p:cNvPr id="39" name="Connector 38"/>
          <p:cNvCxnSpPr/>
          <p:nvPr/>
        </p:nvCxnSpPr>
        <p:spPr>
          <a:xfrm flipH="1" flipV="1">
            <a:off x="2103120" y="1920240"/>
            <a:ext cx="914400" cy="1417320"/>
          </a:xfrm>
          <a:prstGeom prst="line">
            <a:avLst/>
          </a:prstGeom>
          <a:ln w="22225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 flipV="1">
            <a:off x="1691640" y="1600200"/>
            <a:ext cx="365760" cy="274319"/>
          </a:xfrm>
          <a:prstGeom prst="line">
            <a:avLst/>
          </a:prstGeom>
          <a:ln w="22225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548640" y="228600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B6F42"/>
                </a:solidFill>
              </a:rPr>
              <a:t>NL reply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144000" y="1051560"/>
            <a:ext cx="283464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89720" y="107899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A2955"/>
                </a:solidFill>
              </a:rPr>
              <a:t>Legend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9235440" y="1572768"/>
            <a:ext cx="548640" cy="0"/>
          </a:xfrm>
          <a:prstGeom prst="line">
            <a:avLst/>
          </a:prstGeom>
          <a:ln w="19050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9829800" y="144475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4444"/>
                </a:solidFill>
              </a:rPr>
              <a:t>Query / Request path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9235440" y="1911095"/>
            <a:ext cx="548640" cy="0"/>
          </a:xfrm>
          <a:prstGeom prst="line">
            <a:avLst/>
          </a:prstGeom>
          <a:ln w="19050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9829800" y="179222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4444"/>
                </a:solidFill>
              </a:rPr>
              <a:t>Response / Return path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132320" y="2697480"/>
            <a:ext cx="2743200" cy="777240"/>
          </a:xfrm>
          <a:prstGeom prst="roundRect">
            <a:avLst/>
          </a:prstGeom>
          <a:solidFill>
            <a:srgbClr val="44227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FFFFFF"/>
                </a:solidFill>
              </a:rPr>
              <a:t>Reverse lookup:</a:t>
            </a:r>
          </a:p>
          <a:p>
            <a:pPr algn="ctr"/>
            <a:r>
              <a:rPr sz="900" b="0">
                <a:solidFill>
                  <a:srgbClr val="FFFFFF"/>
                </a:solidFill>
              </a:rPr>
              <a:t>scan DU cell_ids[] →</a:t>
            </a:r>
          </a:p>
          <a:p>
            <a:pPr algn="ctr"/>
            <a:r>
              <a:rPr sz="900" b="0">
                <a:solidFill>
                  <a:srgbClr val="FFFFFF"/>
                </a:solidFill>
              </a:rPr>
              <a:t>find MLS_MGR_01 owner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309360" y="3086100"/>
            <a:ext cx="822960" cy="0"/>
          </a:xfrm>
          <a:prstGeom prst="line">
            <a:avLst/>
          </a:prstGeom>
          <a:ln w="19050">
            <a:solidFill>
              <a:srgbClr val="5A23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309360" y="28346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5A238C"/>
                </a:solidFill>
              </a:rPr>
              <a:t>tool
result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A2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T2 Query — Step-by-Step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914400"/>
            <a:ext cx="1161288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960120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987552"/>
            <a:ext cx="1463040" cy="274320"/>
          </a:xfrm>
          <a:prstGeom prst="rect">
            <a:avLst/>
          </a:prstGeom>
          <a:solidFill>
            <a:srgbClr val="C45008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98755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User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3160" y="960120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Types query into chat.py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335024"/>
            <a:ext cx="11612880" cy="420624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380744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1408176"/>
            <a:ext cx="1463040" cy="274320"/>
          </a:xfrm>
          <a:prstGeom prst="rect">
            <a:avLst/>
          </a:prstGeom>
          <a:solidFill>
            <a:srgbClr val="175CA6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40817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chat.py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1380744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HTTP POST {session, message} to Orchestrator /chat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1755648"/>
            <a:ext cx="1161288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" y="1801368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1828800"/>
            <a:ext cx="1463040" cy="274320"/>
          </a:xfrm>
          <a:prstGeom prst="rect">
            <a:avLst/>
          </a:prstGeom>
          <a:solidFill>
            <a:srgbClr val="0A2955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182880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Orchestrator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23160" y="1801368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Injects live network snapshot into system prompt; calls Gemini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2176272"/>
            <a:ext cx="11612880" cy="420624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" y="2221991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8680" y="2249424"/>
            <a:ext cx="1463040" cy="274320"/>
          </a:xfrm>
          <a:prstGeom prst="rect">
            <a:avLst/>
          </a:prstGeom>
          <a:solidFill>
            <a:srgbClr val="5A238C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224942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Gemini LLM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3160" y="2221991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Decides query_network is the right tool; emits function call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2596896"/>
            <a:ext cx="1161288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" y="2642615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8680" y="2670048"/>
            <a:ext cx="1463040" cy="274320"/>
          </a:xfrm>
          <a:prstGeom prst="rect">
            <a:avLst/>
          </a:prstGeom>
          <a:solidFill>
            <a:srgbClr val="0A2955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267004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Orchestrator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23160" y="2642615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Dispatches query_network → GET /network on Controller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3017520"/>
            <a:ext cx="11612880" cy="420624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0040" y="3063240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8680" y="3090672"/>
            <a:ext cx="1463040" cy="274320"/>
          </a:xfrm>
          <a:prstGeom prst="rect">
            <a:avLst/>
          </a:prstGeom>
          <a:solidFill>
            <a:srgbClr val="007E8A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309067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Controller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23160" y="3063240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Reads topology.json: dus{} with cell_ids[] lists for all 3 DUs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3438144"/>
            <a:ext cx="1161288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0040" y="3483864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8680" y="3511296"/>
            <a:ext cx="1463040" cy="274320"/>
          </a:xfrm>
          <a:prstGeom prst="rect">
            <a:avLst/>
          </a:prstGeom>
          <a:solidFill>
            <a:srgbClr val="007E8A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351129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Controller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23160" y="3483864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Runs Flux query against InfluxDB: latest KPIs per cell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3858768"/>
            <a:ext cx="11612880" cy="420624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0040" y="3904488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68680" y="3931920"/>
            <a:ext cx="1463040" cy="274320"/>
          </a:xfrm>
          <a:prstGeom prst="rect">
            <a:avLst/>
          </a:prstGeom>
          <a:solidFill>
            <a:srgbClr val="007E8A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39319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Controller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23160" y="3904488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Returns full topology including DU → cell_ids mapping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4279392"/>
            <a:ext cx="1161288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20040" y="4325112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68680" y="4352544"/>
            <a:ext cx="1463040" cy="274320"/>
          </a:xfrm>
          <a:prstGeom prst="rect">
            <a:avLst/>
          </a:prstGeom>
          <a:solidFill>
            <a:srgbClr val="0A2955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68680" y="435254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Orchestrator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423160" y="4325112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Passes tool result back to Gemini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4320" y="4700016"/>
            <a:ext cx="11612880" cy="420624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20040" y="4745736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10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68680" y="4773168"/>
            <a:ext cx="1463040" cy="274320"/>
          </a:xfrm>
          <a:prstGeom prst="rect">
            <a:avLst/>
          </a:prstGeom>
          <a:solidFill>
            <a:srgbClr val="5A238C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68680" y="477316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Gemini LLM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423160" y="4745736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Scans each DU's cell_ids[]: finds MLS_MGR_01 in DU-MLS-1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74320" y="5120640"/>
            <a:ext cx="1161288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20040" y="5166360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11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68680" y="5193792"/>
            <a:ext cx="1463040" cy="274320"/>
          </a:xfrm>
          <a:prstGeom prst="rect">
            <a:avLst/>
          </a:prstGeom>
          <a:solidFill>
            <a:srgbClr val="5A238C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68680" y="519379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Gemini LLM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423160" y="5166360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Generates answer: "MLS_MGR_01 is managed by DU-MLS-1."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74320" y="5541264"/>
            <a:ext cx="11612880" cy="420624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20040" y="5586984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12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68680" y="5614416"/>
            <a:ext cx="1463040" cy="274320"/>
          </a:xfrm>
          <a:prstGeom prst="rect">
            <a:avLst/>
          </a:prstGeom>
          <a:solidFill>
            <a:srgbClr val="0A2955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68680" y="561441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Orchestrator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423160" y="5586984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Returns HTTP response {reply} to chat.py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74320" y="5961888"/>
            <a:ext cx="1161288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20040" y="6007608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13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68680" y="6035040"/>
            <a:ext cx="1463040" cy="274320"/>
          </a:xfrm>
          <a:prstGeom prst="rect">
            <a:avLst/>
          </a:prstGeom>
          <a:solidFill>
            <a:srgbClr val="175CA6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68680" y="603504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chat.py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423160" y="6007608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Prints answer to user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A2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T2 — Reverse Lookup: MLS_MGR_01 → DU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9144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2955"/>
                </a:solidFill>
              </a:rPr>
              <a:t>Gemini scans each DU's cell_ids[] list until it finds MLS_MGR_01: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417320"/>
            <a:ext cx="3474720" cy="411480"/>
          </a:xfrm>
          <a:prstGeom prst="rect">
            <a:avLst/>
          </a:prstGeom>
          <a:solidFill>
            <a:srgbClr val="007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4173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DU-MLS-1  (14 cells)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874519"/>
            <a:ext cx="173736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874519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44444"/>
                </a:solidFill>
              </a:rPr>
              <a:t>MLS_RWS_01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57400" y="1874519"/>
            <a:ext cx="173736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57400" y="1874519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44444"/>
                </a:solidFill>
              </a:rPr>
              <a:t>MLS_RWS_03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295144"/>
            <a:ext cx="1737360" cy="365760"/>
          </a:xfrm>
          <a:prstGeom prst="rect">
            <a:avLst/>
          </a:prstGeom>
          <a:solidFill>
            <a:srgbClr val="E8ECF2"/>
          </a:solidFill>
          <a:ln w="381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" y="2295144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44444"/>
                </a:solidFill>
              </a:rPr>
              <a:t>MLS_18C_01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57400" y="2295144"/>
            <a:ext cx="1737360" cy="365760"/>
          </a:xfrm>
          <a:prstGeom prst="rect">
            <a:avLst/>
          </a:prstGeom>
          <a:solidFill>
            <a:srgbClr val="E8ECF2"/>
          </a:solidFill>
          <a:ln w="381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57400" y="2295144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44444"/>
                </a:solidFill>
              </a:rPr>
              <a:t>MLS_18C_03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715768"/>
            <a:ext cx="173736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2715768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44444"/>
                </a:solidFill>
              </a:rPr>
              <a:t>MLS_BEL_01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57400" y="2715768"/>
            <a:ext cx="173736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57400" y="2715768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44444"/>
                </a:solidFill>
              </a:rPr>
              <a:t>MLS_BEL_02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136391"/>
            <a:ext cx="1737360" cy="365760"/>
          </a:xfrm>
          <a:prstGeom prst="rect">
            <a:avLst/>
          </a:prstGeom>
          <a:solidFill>
            <a:srgbClr val="E8ECF2"/>
          </a:solidFill>
          <a:ln w="381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3136391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44444"/>
                </a:solidFill>
              </a:rPr>
              <a:t>MLS_BEL_03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57400" y="3136391"/>
            <a:ext cx="1737360" cy="365760"/>
          </a:xfrm>
          <a:prstGeom prst="rect">
            <a:avLst/>
          </a:prstGeom>
          <a:solidFill>
            <a:srgbClr val="E8ECF2"/>
          </a:solidFill>
          <a:ln w="381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57400" y="3136391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44444"/>
                </a:solidFill>
              </a:rPr>
              <a:t>MLS_SNK_01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3557015"/>
            <a:ext cx="173736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4320" y="3557015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44444"/>
                </a:solidFill>
              </a:rPr>
              <a:t>MLS_SNK_03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057400" y="3557015"/>
            <a:ext cx="173736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57400" y="3557015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44444"/>
                </a:solidFill>
              </a:rPr>
              <a:t>MLS_10C_01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3977639"/>
            <a:ext cx="1737360" cy="365760"/>
          </a:xfrm>
          <a:prstGeom prst="rect">
            <a:avLst/>
          </a:prstGeom>
          <a:solidFill>
            <a:srgbClr val="E8ECF2"/>
          </a:solidFill>
          <a:ln w="381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4320" y="3977639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44444"/>
                </a:solidFill>
              </a:rPr>
              <a:t>MLS_CHD_01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057400" y="3977639"/>
            <a:ext cx="1737360" cy="365760"/>
          </a:xfrm>
          <a:prstGeom prst="rect">
            <a:avLst/>
          </a:prstGeom>
          <a:solidFill>
            <a:srgbClr val="E8ECF2"/>
          </a:solidFill>
          <a:ln w="381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057400" y="3977639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44444"/>
                </a:solidFill>
              </a:rPr>
              <a:t>MLS_3MN_01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4398264"/>
            <a:ext cx="173736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4320" y="4398264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44444"/>
                </a:solidFill>
              </a:rPr>
              <a:t>MLS_6CR_01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057400" y="4398264"/>
            <a:ext cx="1737360" cy="365760"/>
          </a:xfrm>
          <a:prstGeom prst="rect">
            <a:avLst/>
          </a:prstGeom>
          <a:solidFill>
            <a:srgbClr val="F5C518"/>
          </a:solidFill>
          <a:ln w="381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057400" y="4398264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1A1A1A"/>
                </a:solidFill>
              </a:rPr>
              <a:t>MLS_MGR_01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4800600"/>
            <a:ext cx="3474720" cy="502920"/>
          </a:xfrm>
          <a:prstGeom prst="rect">
            <a:avLst/>
          </a:prstGeom>
          <a:solidFill>
            <a:srgbClr val="1B6F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4320" y="480060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✓  FOUND in DU-MLS-1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06240" y="1417320"/>
            <a:ext cx="3474720" cy="411480"/>
          </a:xfrm>
          <a:prstGeom prst="rect">
            <a:avLst/>
          </a:prstGeom>
          <a:solidFill>
            <a:srgbClr val="007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06240" y="14173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DU-MLS-2  (9 cells)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1874519"/>
            <a:ext cx="173736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06240" y="1874519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44444"/>
                </a:solidFill>
              </a:rPr>
              <a:t>MLS_SPG_03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989320" y="1874519"/>
            <a:ext cx="173736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89320" y="1874519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44444"/>
                </a:solidFill>
              </a:rPr>
              <a:t>MLS_3MN_02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2295144"/>
            <a:ext cx="1737360" cy="365760"/>
          </a:xfrm>
          <a:prstGeom prst="rect">
            <a:avLst/>
          </a:prstGeom>
          <a:solidFill>
            <a:srgbClr val="E8ECF2"/>
          </a:solidFill>
          <a:ln w="381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06240" y="2295144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44444"/>
                </a:solidFill>
              </a:rPr>
              <a:t>MLS_3MN_03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989320" y="2295144"/>
            <a:ext cx="1737360" cy="365760"/>
          </a:xfrm>
          <a:prstGeom prst="rect">
            <a:avLst/>
          </a:prstGeom>
          <a:solidFill>
            <a:srgbClr val="E8ECF2"/>
          </a:solidFill>
          <a:ln w="381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89320" y="2295144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44444"/>
                </a:solidFill>
              </a:rPr>
              <a:t>MLS_10C_03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2715768"/>
            <a:ext cx="173736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06240" y="2715768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44444"/>
                </a:solidFill>
              </a:rPr>
              <a:t>MLS_18C_02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989320" y="2715768"/>
            <a:ext cx="173736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989320" y="2715768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44444"/>
                </a:solidFill>
              </a:rPr>
              <a:t>MLS_RWS_02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206240" y="3136391"/>
            <a:ext cx="1737360" cy="365760"/>
          </a:xfrm>
          <a:prstGeom prst="rect">
            <a:avLst/>
          </a:prstGeom>
          <a:solidFill>
            <a:srgbClr val="E8ECF2"/>
          </a:solidFill>
          <a:ln w="381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206240" y="3136391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44444"/>
                </a:solidFill>
              </a:rPr>
              <a:t>MLS_SNK_02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989320" y="3136391"/>
            <a:ext cx="1737360" cy="365760"/>
          </a:xfrm>
          <a:prstGeom prst="rect">
            <a:avLst/>
          </a:prstGeom>
          <a:solidFill>
            <a:srgbClr val="E8ECF2"/>
          </a:solidFill>
          <a:ln w="381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89320" y="3136391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44444"/>
                </a:solidFill>
              </a:rPr>
              <a:t>MLS_SPG_02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206240" y="3557015"/>
            <a:ext cx="173736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206240" y="3557015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44444"/>
                </a:solidFill>
              </a:rPr>
              <a:t>MLS_SPG_01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206240" y="3813048"/>
            <a:ext cx="3474720" cy="41148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206240" y="3813048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44444"/>
                </a:solidFill>
              </a:rPr>
              <a:t>✗  MLS_MGR_01 not here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229600" y="1417320"/>
            <a:ext cx="3474720" cy="411480"/>
          </a:xfrm>
          <a:prstGeom prst="rect">
            <a:avLst/>
          </a:prstGeom>
          <a:solidFill>
            <a:srgbClr val="007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229600" y="14173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DU-MLS-3  (7 cells)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229600" y="1874519"/>
            <a:ext cx="173736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229600" y="1874519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44444"/>
                </a:solidFill>
              </a:rPr>
              <a:t>MLS_MGR_02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012680" y="1874519"/>
            <a:ext cx="173736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012680" y="1874519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44444"/>
                </a:solidFill>
              </a:rPr>
              <a:t>MLS_MGR_03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229600" y="2295144"/>
            <a:ext cx="1737360" cy="365760"/>
          </a:xfrm>
          <a:prstGeom prst="rect">
            <a:avLst/>
          </a:prstGeom>
          <a:solidFill>
            <a:srgbClr val="E8ECF2"/>
          </a:solidFill>
          <a:ln w="381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229600" y="2295144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44444"/>
                </a:solidFill>
              </a:rPr>
              <a:t>MLS_CHD_02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012680" y="2295144"/>
            <a:ext cx="1737360" cy="365760"/>
          </a:xfrm>
          <a:prstGeom prst="rect">
            <a:avLst/>
          </a:prstGeom>
          <a:solidFill>
            <a:srgbClr val="E8ECF2"/>
          </a:solidFill>
          <a:ln w="381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012680" y="2295144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44444"/>
                </a:solidFill>
              </a:rPr>
              <a:t>MLS_CHD_03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229600" y="2715768"/>
            <a:ext cx="173736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29600" y="2715768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44444"/>
                </a:solidFill>
              </a:rPr>
              <a:t>MLS_6CR_02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0012680" y="2715768"/>
            <a:ext cx="173736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012680" y="2715768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44444"/>
                </a:solidFill>
              </a:rPr>
              <a:t>MLS_6CR_03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229600" y="3136391"/>
            <a:ext cx="1737360" cy="365760"/>
          </a:xfrm>
          <a:prstGeom prst="rect">
            <a:avLst/>
          </a:prstGeom>
          <a:solidFill>
            <a:srgbClr val="E8ECF2"/>
          </a:solidFill>
          <a:ln w="381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29600" y="3136391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44444"/>
                </a:solidFill>
              </a:rPr>
              <a:t>MLS_10C_02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229600" y="3392424"/>
            <a:ext cx="3474720" cy="41148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29600" y="3392424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44444"/>
                </a:solidFill>
              </a:rPr>
              <a:t>✗  MLS_MGR_01 not here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74320" y="5486400"/>
            <a:ext cx="11612880" cy="777240"/>
          </a:xfrm>
          <a:prstGeom prst="rect">
            <a:avLst/>
          </a:prstGeom>
          <a:solidFill>
            <a:srgbClr val="0A2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74320" y="5486400"/>
            <a:ext cx="11612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Answer:  "MLS_MGR_01 is managed by DU-MLS-1."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