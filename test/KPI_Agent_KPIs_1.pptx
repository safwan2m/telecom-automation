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6400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KPI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0C8FF"/>
                </a:solidFill>
              </a:rPr>
              <a:t>All KPIs Used — With Simple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762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</a:rPr>
              <a:t>Malleswaram Network  ·  30 cells  ·  3 DUs  ·  1 CU  ·  18,400 peak 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44368"/>
            <a:ext cx="2423160" cy="1463040"/>
          </a:xfrm>
          <a:prstGeom prst="roundRect">
            <a:avLst/>
          </a:prstGeom>
          <a:solidFill>
            <a:srgbClr val="007E8A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LSTM Input KPIs
(fed to AI model)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944368"/>
            <a:ext cx="2423160" cy="1463040"/>
          </a:xfrm>
          <a:prstGeom prst="roundRect">
            <a:avLst/>
          </a:prstGeom>
          <a:solidFill>
            <a:srgbClr val="C45008"/>
          </a:solidFill>
          <a:ln w="1905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99923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7033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Extra KPIs stored
(InfluxDB only)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944368"/>
            <a:ext cx="2423160" cy="1463040"/>
          </a:xfrm>
          <a:prstGeom prst="roundRect">
            <a:avLst/>
          </a:prstGeom>
          <a:solidFill>
            <a:srgbClr val="5A238C"/>
          </a:solidFill>
          <a:ln w="1905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99923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7033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DU-level KPIs
(infrastructure health)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944368"/>
            <a:ext cx="2423160" cy="1463040"/>
          </a:xfrm>
          <a:prstGeom prst="roundRect">
            <a:avLst/>
          </a:prstGeom>
          <a:solidFill>
            <a:srgbClr val="1B6F42"/>
          </a:solidFill>
          <a:ln w="1905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999232"/>
            <a:ext cx="2240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3703320"/>
            <a:ext cx="2240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Health States
(LSTM output classes)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1772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0A0C8"/>
                </a:solidFill>
              </a:rPr>
              <a:t>Source files:  agents/kpi_agent/model.py  |  kpi_agent.py  |  dev-env/simulators/du/du_simulator.py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138928"/>
            <a:ext cx="2194560" cy="50292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912" y="5138928"/>
            <a:ext cx="2194560" cy="502920"/>
          </a:xfrm>
          <a:prstGeom prst="roundRect">
            <a:avLst/>
          </a:prstGeom>
          <a:solidFill>
            <a:srgbClr val="FFEB9C"/>
          </a:solidFill>
          <a:ln w="19050"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45008"/>
                </a:solidFill>
              </a:rPr>
              <a:t>OVERLOAD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4064" y="5138928"/>
            <a:ext cx="2194560" cy="50292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75CA6"/>
                </a:solidFill>
              </a:rPr>
              <a:t>UNDERLOAD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6" y="5138928"/>
            <a:ext cx="2194560" cy="502920"/>
          </a:xfrm>
          <a:prstGeom prst="roundRect">
            <a:avLst/>
          </a:prstGeom>
          <a:solidFill>
            <a:srgbClr val="FFC7CE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C00000"/>
                </a:solidFill>
              </a:rPr>
              <a:t>SINR 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02368" y="5138928"/>
            <a:ext cx="2194560" cy="5029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5A238C"/>
                </a:solidFill>
              </a:rPr>
              <a:t>POWER WASTE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77472" y="6565392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BBB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9 KPIs Fed Into the LSTM Model —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743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model.py  FEATURE_NORM  |  kpi_agent.py  extract_features()  |  All normalised to 0-1 before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7472" y="6565392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BBBB"/>
                </a:solidFill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87552"/>
            <a:ext cx="457200" cy="54864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87552"/>
            <a:ext cx="1920240" cy="54864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KPI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987552"/>
            <a:ext cx="3017520" cy="54864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FFFFF"/>
                </a:solidFill>
              </a:rPr>
              <a:t>Simple English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987552"/>
            <a:ext cx="1554480" cy="54864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FFFFF"/>
                </a:solidFill>
              </a:rPr>
              <a:t>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987552"/>
            <a:ext cx="1554480" cy="54864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FFFFF"/>
                </a:solidFill>
              </a:rPr>
              <a:t>Normal (5G)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987552"/>
            <a:ext cx="1828800" cy="54864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FFFFF"/>
                </a:solidFill>
              </a:rPr>
              <a:t>Danger Threshold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0" y="987552"/>
            <a:ext cx="1755648" cy="54864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FFFFFF"/>
                </a:solidFill>
              </a:rPr>
              <a:t>Linked Alert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554480"/>
            <a:ext cx="457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554480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prb_dl_pct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554480"/>
            <a:ext cx="3017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How busy is the cell?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554480"/>
            <a:ext cx="1554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100 %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554480"/>
            <a:ext cx="1554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40 – 70 %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554480"/>
            <a:ext cx="1828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C00000"/>
                </a:solidFill>
              </a:rPr>
              <a:t>&gt; 85 % → OVERLOAD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0" y="1554480"/>
            <a:ext cx="1755648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OVERLOAD / LOAD_BALANCE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121408"/>
            <a:ext cx="45720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121408"/>
            <a:ext cx="192024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sinr_db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121408"/>
            <a:ext cx="301752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How clean is the signal?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121408"/>
            <a:ext cx="155448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-5 to +30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2121408"/>
            <a:ext cx="155448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15 – 22 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121408"/>
            <a:ext cx="182880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C00000"/>
                </a:solidFill>
              </a:rPr>
              <a:t>&lt; 5 dB → SINR_LOW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0" y="2121408"/>
            <a:ext cx="1755648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SINR_DEGRADATION / PCI_REOPT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688336"/>
            <a:ext cx="457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688336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connected_ues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688336"/>
            <a:ext cx="3017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How many phones connected?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2688336"/>
            <a:ext cx="1554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900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2688336"/>
            <a:ext cx="1554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300 – 700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688336"/>
            <a:ext cx="1828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C00000"/>
                </a:solidFill>
              </a:rPr>
              <a:t>&lt; 15 + high power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2688336"/>
            <a:ext cx="1755648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POWER_WASTE / DTX_RECOMMEND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255264"/>
            <a:ext cx="45720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3255264"/>
            <a:ext cx="192024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power_w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0" y="3255264"/>
            <a:ext cx="301752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How much electricity used?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3255264"/>
            <a:ext cx="155448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1200 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3255264"/>
            <a:ext cx="155448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400 – 700 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3255264"/>
            <a:ext cx="182880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C00000"/>
                </a:solidFill>
              </a:rPr>
              <a:t>&gt; 500 W + few UEs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515600" y="3255264"/>
            <a:ext cx="1755648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POWER_WASTE / DTX_RECOMMEND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822191"/>
            <a:ext cx="457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3822191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packet_loss_pct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0" y="3822191"/>
            <a:ext cx="3017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How many data packets dropped?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3822191"/>
            <a:ext cx="1554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5 %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3822191"/>
            <a:ext cx="1554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&lt; 0.1 %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3822191"/>
            <a:ext cx="1828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C00000"/>
                </a:solidFill>
              </a:rPr>
              <a:t>&gt; 0.5 % at overload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0" y="3822191"/>
            <a:ext cx="1755648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OVERLOAD (secondary)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389120"/>
            <a:ext cx="45720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389120"/>
            <a:ext cx="192024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dl_throughput_mbps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4389120"/>
            <a:ext cx="301752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How fast is downlink data?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4389120"/>
            <a:ext cx="155448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4000 Mbps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0" y="4389120"/>
            <a:ext cx="155448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1000–2500 Mbps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0" y="4389120"/>
            <a:ext cx="182880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C00000"/>
                </a:solidFill>
              </a:rPr>
              <a:t>Low despite high PRB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4389120"/>
            <a:ext cx="1755648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SINR_LOW (secondary)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4956048"/>
            <a:ext cx="457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956048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cqi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4956048"/>
            <a:ext cx="3017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Channel quality score (link grade)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956048"/>
            <a:ext cx="1554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15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4956048"/>
            <a:ext cx="1554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10 – 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86800" y="4956048"/>
            <a:ext cx="1828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C00000"/>
                </a:solidFill>
              </a:rPr>
              <a:t>&lt; 5 = poor channel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15600" y="4956048"/>
            <a:ext cx="1755648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SINR_LOW (secondary)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5522976"/>
            <a:ext cx="45720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5522976"/>
            <a:ext cx="192024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bler_pct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560320" y="5522976"/>
            <a:ext cx="301752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What % of data blocks need resending?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77840" y="5522976"/>
            <a:ext cx="155448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30 %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0" y="5522976"/>
            <a:ext cx="155448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&lt; 2 %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5522976"/>
            <a:ext cx="1828800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C00000"/>
                </a:solidFill>
              </a:rPr>
              <a:t>&gt; 8 % at overload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15600" y="5522976"/>
            <a:ext cx="1755648" cy="5486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OVERLOAD / SINR_LOW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6089904"/>
            <a:ext cx="4572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0080" y="6089904"/>
            <a:ext cx="192024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7E8A"/>
                </a:solidFill>
              </a:rPr>
              <a:t>latency_ms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0" y="6089904"/>
            <a:ext cx="30175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How long does one data round-trip take?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77840" y="6089904"/>
            <a:ext cx="1554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500 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32320" y="6089904"/>
            <a:ext cx="155448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&lt; 20 ms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86800" y="6089904"/>
            <a:ext cx="1828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C00000"/>
                </a:solidFill>
              </a:rPr>
              <a:t>&gt; 40 ms congested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515600" y="6089904"/>
            <a:ext cx="1755648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OVERLOAD (secondary)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880" y="6199632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All 9 values are collected from InfluxDB 'cell_kpi' measurement every poll cycle (POLL_INTERVAL_SEC=10s default).  6 consecutive readings form one LSTM input tensor  (shape 1 x 6 x 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KPI 1 — PRB DL %   and   KPI 2 — SINR dB   (Most Decision-Critical)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743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These two KPIs drive OVERLOAD and SINR_LOW detection. Together they reveal if a cell is busy vs degraded.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7472" y="6565392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BBBB"/>
                </a:solidFill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557784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KPI 1  —  PRB DL %  (prb_dl_pct)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Physical Resource Block Downlink Percentage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0240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Simple definition:  How much of the cell's radio capacity is being used right now?
Think of it like seats on a bus: 50% PRB = half the seats taken. 95% = almost full.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43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55"/>
                </a:solidFill>
              </a:rPr>
              <a:t>PRB 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035808"/>
            <a:ext cx="1371600" cy="47548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0 – 20 %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19072" y="3035808"/>
            <a:ext cx="1371600" cy="47548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Very quiet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18104" y="3035808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Off-peak hours, late night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566160"/>
            <a:ext cx="137160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20 – 70 %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9072" y="3566160"/>
            <a:ext cx="137160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Normal operation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8104" y="3566160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Daytime, moderate 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096511"/>
            <a:ext cx="137160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70 – 85 %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9072" y="4096511"/>
            <a:ext cx="137160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Getting busy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18104" y="4096511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Evening peak, monitor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626864"/>
            <a:ext cx="137160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85 – 98 %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19072" y="4626864"/>
            <a:ext cx="137160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OVERLOAD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8104" y="4626864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Action: move cell to lighter DU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212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Rule threshold: &gt; 85% for one reading (fallback) | LSTM: &gt; 85% sustained for 60s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960120"/>
            <a:ext cx="5577840" cy="475488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KPI 2  —  SINR dB  (sinr_db)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087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Signal-to-Interference-plus-Noise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920240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Simple definition:  How clear is the radio signal versus background noise?
Think of it like trying to hear someone in a noisy room: high SINR = quiet room, low = very noisy.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7432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55"/>
                </a:solidFill>
              </a:rPr>
              <a:t>SINR 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035808"/>
            <a:ext cx="128016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&lt; 0 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54112" y="3035808"/>
            <a:ext cx="137160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Terrible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53144" y="3035808"/>
            <a:ext cx="269748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Almost unusable — severe interference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566160"/>
            <a:ext cx="128016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0 – 5 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54112" y="3566160"/>
            <a:ext cx="137160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SINR 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53144" y="3566160"/>
            <a:ext cx="269748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Action: CRITICAL alert + PCI reopt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4096511"/>
            <a:ext cx="128016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5 – 15 dB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54112" y="4096511"/>
            <a:ext cx="137160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Acceptable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53144" y="4096511"/>
            <a:ext cx="269748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Degraded but functional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4626864"/>
            <a:ext cx="128016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&gt; 15 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54112" y="4626864"/>
            <a:ext cx="137160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Good signal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53144" y="4626864"/>
            <a:ext cx="269748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Normal operation — clear channel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2120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Rule threshold: &lt; 5 dB | LSTM: sustained low SINR at moderate PRB = co-channel interference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" y="5650992"/>
            <a:ext cx="11704320" cy="658368"/>
          </a:xfrm>
          <a:prstGeom prst="roundRect">
            <a:avLst/>
          </a:prstGeom>
          <a:solidFill>
            <a:srgbClr val="0A2955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68756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Key interaction:   High PRB + Low SINR  →  Overloaded AND interference  (worst case)
High PRB + Good SINR → Pure OVERLOAD (easy to fix — move cell)   Low PRB + Low SINR → Pure interference (not fixed by moving cell)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KPI 3 — Connected UEs   and   KPI 4 — Power 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743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Together these two detect POWER_WASTE: a tower drawing full electricity with almost no users connected.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7472" y="6565392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BBBB"/>
                </a:solidFill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5577840" cy="475488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KPI 3  —  Connected UEs  (connected_ues)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How many phones / devices are actively connected to this cell right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019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Simple definition:  The number of active users the tower is serving at this moment.
5G NR cell: up to 900 UEs.  4G LTE cell: up to 300 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68880"/>
            <a:ext cx="1371600" cy="475488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5A238C"/>
                </a:solidFill>
              </a:rPr>
              <a:t>&lt; 15 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9072" y="2468880"/>
            <a:ext cx="1371600" cy="475488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5A238C"/>
                </a:solidFill>
              </a:rPr>
              <a:t>Near empty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8104" y="2468880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POWER_WASTE candidate if power still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99232"/>
            <a:ext cx="1371600" cy="47548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15 – 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9072" y="2999232"/>
            <a:ext cx="1371600" cy="475488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5CA6"/>
                </a:solidFill>
              </a:rPr>
              <a:t>Low utilisation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8104" y="2999232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UNDERLOAD — sleep candidate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29584"/>
            <a:ext cx="137160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200 – 700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19072" y="3529584"/>
            <a:ext cx="137160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Normal 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18104" y="3529584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Healthy operation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059935"/>
            <a:ext cx="137160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&gt; 700 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9072" y="4059935"/>
            <a:ext cx="137160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Heavy 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18104" y="4059935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Monitor PRB — approaching OVERLOAD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59028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Real values (Malleswaram 5G cell):
2am off-peak: ~45 UEs   |   2pm normal: ~540 UEs   |   7pm peak: ~870 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960120"/>
            <a:ext cx="5577840" cy="475488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KPI 4  —  Power W  (power_w)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How much electrical power is the tower's radio unit consuming right now?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90195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Simple definition:  The electricity bill of the tower. 5G mMIMO is always-on and power-hungry.
5G 64T64R: 225–1000W.  4G 4T4R: 50–200W.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468880"/>
            <a:ext cx="137160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&lt; 300 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45552" y="2468880"/>
            <a:ext cx="137160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Low power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4584" y="2468880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4G cell or 5G in low-load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999232"/>
            <a:ext cx="137160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300–700 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45552" y="2999232"/>
            <a:ext cx="137160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Normal 5G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44584" y="2999232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5G cell at 30–70% 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529584"/>
            <a:ext cx="137160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700–950 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45552" y="3529584"/>
            <a:ext cx="137160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High 5G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44584" y="3529584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5G cell near full load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059935"/>
            <a:ext cx="137160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&gt; 950 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45552" y="4059935"/>
            <a:ext cx="137160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Near peak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44584" y="4059935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Full load — check if OVERLOAD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59028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Real values (Malleswaram 5G n78, idle_power=237W, tx_power=950W):
2am idle: ~250W   |   2pm normal: ~650W   |   7pm peak: ~940W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" y="5321808"/>
            <a:ext cx="11704320" cy="9144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376672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238C"/>
                </a:solidFill>
              </a:rPr>
              <a:t>POWER_WASTE is detected when  BOTH conditions are true at the same time:
Power W &gt; 500 W   AND   Connected UEs &lt; 15
Meaning: the tower is drawing near-full electricity but serving almost nobody — wasted energy.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KPI 5 — Packet Loss %   and   KPI 6 — DL Throughput Mbps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743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Data quality and speed. These confirm what PRB and SINR suggest — if data is actually flowing well.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7472" y="6565392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BBBB"/>
                </a:solidFill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5577840" cy="4754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KPI 5  —  Packet Loss %  (packet_loss_pct)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What percentage of data packets sent by the network are being dropped (lost)?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0195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Simple definition:  Imagine sending 1000 letters. If 5 never arrive, packet loss = 0.5%.
For video calls and downloads, even 1% loss causes buffering and poor quality.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578608"/>
            <a:ext cx="155448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0.00 – 0.05 %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1952" y="2578608"/>
            <a:ext cx="128016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Excellent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9544" y="2578608"/>
            <a:ext cx="256032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Healthy network, no congestion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108960"/>
            <a:ext cx="155448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0.05 – 0.25 %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01952" y="3108960"/>
            <a:ext cx="128016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Acceptable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9544" y="3108960"/>
            <a:ext cx="256032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Watch — mild congestion building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639311"/>
            <a:ext cx="155448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0.25 – 1.0 %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01952" y="3639311"/>
            <a:ext cx="128016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Degraded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3639311"/>
            <a:ext cx="256032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Cell getting congested or interference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169663"/>
            <a:ext cx="155448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&gt; 1.0 %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1952" y="4169663"/>
            <a:ext cx="128016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Severe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9544" y="4169663"/>
            <a:ext cx="256032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SINR_LOW or OVERLOAD — act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77316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How it's computed in simulator:
pkt_loss = max(0, (load - 0.75) x 2.5)   — zero below 75% load, rises sharply above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960120"/>
            <a:ext cx="5577840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KPI 6  —  DL Throughput Mbps  (dl_throughput_mbps)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How fast is actual downlink data flowing to users right now (megabits per second)?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901952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Simple definition:  The internet speed the tower is delivering.
5G NR peak: 3800 Mbps.  4G LTE peak: 150 Mbps.  Affected by both load and signal quality.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578608"/>
            <a:ext cx="146304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&lt; 200 Mbps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36992" y="2578608"/>
            <a:ext cx="1280160" cy="475488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00000"/>
                </a:solidFill>
              </a:rPr>
              <a:t>Very 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4584" y="2578608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4G cell OR interference — check SINR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3108960"/>
            <a:ext cx="146304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200 – 1000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36992" y="3108960"/>
            <a:ext cx="1280160" cy="475488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45008"/>
                </a:solidFill>
              </a:rPr>
              <a:t>Moderate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44584" y="3108960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5G at low load or 4G at peak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639311"/>
            <a:ext cx="146304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1000 – 2500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36992" y="3639311"/>
            <a:ext cx="128016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Good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44584" y="3639311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5G normal daytime operation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169663"/>
            <a:ext cx="146304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&gt; 2500 Mbps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36992" y="4169663"/>
            <a:ext cx="1280160" cy="475488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B6F42"/>
                </a:solidFill>
              </a:rPr>
              <a:t>Excellent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44584" y="4169663"/>
            <a:ext cx="2651760" cy="475488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5G peak performance — near full PRB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77316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How it's computed: throughput = (prb_dl_pct / 100) x peak_dl_mbps x jitter
Key signal: Low throughput DESPITE high PRB = interference stealing efficiency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600" y="5413248"/>
            <a:ext cx="11704320" cy="74980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46811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955"/>
                </a:solidFill>
              </a:rPr>
              <a:t>LSTM insight:   Packet loss rising + throughput falling while PRB stays high = congestion (OVERLOAD).   Low throughput with low PRB = interference (SINR_LOW).   These patterns are invisible to single-threshold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KPI 7 — CQI   |   KPI 8 — BLER %   |   KPI 9 — Latency 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743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Channel health indicators. Added in the latest model update. Richer signal for interference detection.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7472" y="6565392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BBBB"/>
                </a:solidFill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3749039" cy="411480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KPI 7  —  CQI  (cqi)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17320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55"/>
                </a:solidFill>
              </a:rPr>
              <a:t>Channel Quality Indicator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36575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Simple definition:  A score from 0 to 15 that tells the tower how good the connection to each user is right now. The tower uses this to choose how fast to send data.
Think of it like a Wi-Fi bars indicator — 15 bars = perfect, 0 bars = terrible.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633472"/>
            <a:ext cx="960120" cy="45720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00000"/>
                </a:solidFill>
              </a:rPr>
              <a:t>0 – 4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7008" y="2633472"/>
            <a:ext cx="960120" cy="45720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00000"/>
                </a:solidFill>
              </a:rPr>
              <a:t>Very poor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85416" y="2633472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Interference or severe fading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145536"/>
            <a:ext cx="960120" cy="45720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45008"/>
                </a:solidFill>
              </a:rPr>
              <a:t>5 –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7008" y="3145536"/>
            <a:ext cx="960120" cy="45720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45008"/>
                </a:solidFill>
              </a:rPr>
              <a:t>Poor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85416" y="3145536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Degraded — check SINR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657600"/>
            <a:ext cx="96012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B6F42"/>
                </a:solidFill>
              </a:rPr>
              <a:t>8 – 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7008" y="3657600"/>
            <a:ext cx="96012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B6F42"/>
                </a:solidFill>
              </a:rPr>
              <a:t>Moderate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85416" y="3657600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Normal loaded conditions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169664"/>
            <a:ext cx="96012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B6F42"/>
                </a:solidFill>
              </a:rPr>
              <a:t>12 – 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008" y="4169664"/>
            <a:ext cx="96012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B6F42"/>
                </a:solidFill>
              </a:rPr>
              <a:t>Excellent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85416" y="4169664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Clean channel, idle or low interference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736592"/>
            <a:ext cx="36575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Computed from SINR: CQI = (sinr_db + 5) / 2.5  — drops fast when signal degrades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9936" y="960120"/>
            <a:ext cx="3749039" cy="411480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KPI 8  —  BLER %  (bler_pct)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5656" y="1417320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55"/>
                </a:solidFill>
              </a:rPr>
              <a:t>Block Error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5656" y="1691640"/>
            <a:ext cx="36575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Simple definition:  What percentage of data blocks (chunks of data) have errors and must be resent? High BLER wastes capacity — the same data is sent multiple times.
Like resending a corrupted text message — wastes time and reduces effective speed.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59936" y="2633472"/>
            <a:ext cx="96012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B6F42"/>
                </a:solidFill>
              </a:rPr>
              <a:t>&lt; 2 %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8344" y="2633472"/>
            <a:ext cx="96012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B6F42"/>
                </a:solidFill>
              </a:rPr>
              <a:t>Excellent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16752" y="2633472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Target range — clean delivery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9936" y="3145536"/>
            <a:ext cx="960120" cy="45720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45008"/>
                </a:solidFill>
              </a:rPr>
              <a:t>2 – 5 %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8344" y="3145536"/>
            <a:ext cx="960120" cy="45720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45008"/>
                </a:solidFill>
              </a:rPr>
              <a:t>Acceptable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16752" y="3145536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Some retransmissions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59936" y="3657600"/>
            <a:ext cx="960120" cy="45720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45008"/>
                </a:solidFill>
              </a:rPr>
              <a:t>5 – 10 %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38344" y="3657600"/>
            <a:ext cx="960120" cy="45720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45008"/>
                </a:solidFill>
              </a:rPr>
              <a:t>Elevated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16752" y="3657600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Congestion or signal issues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59936" y="4169664"/>
            <a:ext cx="960120" cy="45720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00000"/>
                </a:solidFill>
              </a:rPr>
              <a:t>&gt; 10 %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8344" y="4169664"/>
            <a:ext cx="960120" cy="45720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00000"/>
                </a:solidFill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16752" y="4169664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SINR_LOW or severe OVERLOAD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05656" y="4736592"/>
            <a:ext cx="36575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Computed: bler = (load - 0.75) x 15 + (10 - cqi) x 0.5  — rises sharply near capacity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91272" y="960120"/>
            <a:ext cx="3749039" cy="411480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KPI 9  —  Latency ms  (latency_ms)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1417320"/>
            <a:ext cx="36575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2955"/>
                </a:solidFill>
              </a:rPr>
              <a:t>Cell Round-Trip Latency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1691640"/>
            <a:ext cx="36575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Simple definition:  How long does it take for a single data packet to travel from the tower to a phone and back? Lower is always better.
Like ping time in online gaming — 10ms = fast, 200ms = laggy.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91272" y="2633472"/>
            <a:ext cx="96012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B6F42"/>
                </a:solidFill>
              </a:rPr>
              <a:t>&lt; 15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2633472"/>
            <a:ext cx="96012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B6F42"/>
                </a:solidFill>
              </a:rPr>
              <a:t>Excellent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48088" y="2633472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5G NR normal — ultra-low latency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91272" y="3145536"/>
            <a:ext cx="96012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B6F42"/>
                </a:solidFill>
              </a:rPr>
              <a:t>15–30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3145536"/>
            <a:ext cx="960120" cy="45720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1B6F42"/>
                </a:solidFill>
              </a:rPr>
              <a:t>Normal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48088" y="3145536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Healthy loaded operation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91272" y="3657600"/>
            <a:ext cx="960120" cy="45720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45008"/>
                </a:solidFill>
              </a:rPr>
              <a:t>30–60 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69680" y="3657600"/>
            <a:ext cx="960120" cy="45720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45008"/>
                </a:solidFill>
              </a:rPr>
              <a:t>Elevated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48088" y="3657600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Congestion building up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91272" y="4169664"/>
            <a:ext cx="960120" cy="45720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00000"/>
                </a:solidFill>
              </a:rPr>
              <a:t>&gt; 60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69680" y="4169664"/>
            <a:ext cx="960120" cy="45720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C00000"/>
                </a:solidFill>
              </a:rPr>
              <a:t>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48088" y="4169664"/>
            <a:ext cx="1755648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00" b="0">
                <a:solidFill>
                  <a:srgbClr val="555555"/>
                </a:solidFill>
              </a:rPr>
              <a:t>OVERLOAD — too many users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36992" y="4736592"/>
            <a:ext cx="36575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Computed: latency = 8 + load x 25 + max(0, 5 - sinr) x 2  — rises with load and SINR drop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8600" y="5321808"/>
            <a:ext cx="11704320" cy="841248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37667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2955"/>
                </a:solidFill>
              </a:rPr>
              <a:t>These 3 KPIs were ADDED in the latest model update (git pull — train.py update, N_FEATURES: 6 -&gt; 9).
They give the LSTM a richer picture of interference vs congestion, especially for distinguishing SINR_LOW from OVERLOAD at the boundary.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 Extra KPIs — Stored in InfluxDB but NOT Fed to the LSTM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743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du_simulator.py pushes these to 'cell_kpi' measurement. Used by Grafana dashboards and Orchestrator queries.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7472" y="6565392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BBBB"/>
                </a:solidFill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87552"/>
            <a:ext cx="2560320" cy="100584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UL Throughput Mbps
ul_throughput_mbps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9875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Uplink speed — how fast users upload data TO the tower.
Typically 20-25% of DL throughput (asymmetric network design).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63040"/>
            <a:ext cx="1371600" cy="50292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A2955"/>
                </a:solidFill>
              </a:rPr>
              <a:t>0 – 1000 Mbps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3672" y="1463040"/>
            <a:ext cx="3703320" cy="50292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175CA6"/>
                </a:solidFill>
              </a:rPr>
              <a:t>Not fed to LSTM — upload problems are rare and usually mirror DL issues.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73568" y="987552"/>
            <a:ext cx="4023360" cy="10058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Grafana: UE Analytics panel. Helps detect asymmetric congestion.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121408"/>
            <a:ext cx="2560320" cy="1005840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RSRP dBm
rsrp_dbm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1214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Reference Signal Received Power — absolute received signal strength at the UE.
Stronger (less negative) = UE is physically closer to the tower.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596896"/>
            <a:ext cx="1371600" cy="50292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A2955"/>
                </a:solidFill>
              </a:rPr>
              <a:t>-120 to -60 dBm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2596896"/>
            <a:ext cx="3703320" cy="50292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175CA6"/>
                </a:solidFill>
              </a:rPr>
              <a:t>Not fed to LSTM — SINR already captures signal quality more completely.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3568" y="2121408"/>
            <a:ext cx="4023360" cy="10058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Grafana: Cell KPI panel. Used for handover decisions and coverage analysis.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255264"/>
            <a:ext cx="2560320" cy="1005840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PRB UL %
prb_ul_pct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25526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Uplink Physical Resource Block usage — how much upload capacity is occupied.
Usually much lower than DL PRB in typical consumer traffic patterns.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3730752"/>
            <a:ext cx="1371600" cy="50292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A2955"/>
                </a:solidFill>
              </a:rPr>
              <a:t>0 – 95 %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3672" y="3730752"/>
            <a:ext cx="3703320" cy="50292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175CA6"/>
                </a:solidFill>
              </a:rPr>
              <a:t>Not fed to LSTM — highly correlated with DL PRB so adds little new information.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8" y="3255264"/>
            <a:ext cx="4023360" cy="10058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Grafana: Cell KPI panel. Useful for IoT/mMTC cells that are uplink-heavy.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389120"/>
            <a:ext cx="2560320" cy="1005840"/>
          </a:xfrm>
          <a:prstGeom prst="rect">
            <a:avLst/>
          </a:prstGeom>
          <a:solidFill>
            <a:srgbClr val="1B6F42"/>
          </a:solidFill>
          <a:ln>
            <a:solidFill>
              <a:srgbClr val="1B6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HO Success Rate
ho_success_rate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389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Handover Success Rate — what fraction of phone-to-phone-tower switches complete without dropping the call.
Target: &gt; 96%. Drops indicate signalling problems or coverage holes.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4864608"/>
            <a:ext cx="1371600" cy="50292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A2955"/>
                </a:solidFill>
              </a:rPr>
              <a:t>0 – 100 %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3672" y="4864608"/>
            <a:ext cx="3703320" cy="50292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175CA6"/>
                </a:solidFill>
              </a:rPr>
              <a:t>Not fed to LSTM — captures rare events that are hard to model in 60s windows.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3568" y="4389120"/>
            <a:ext cx="4023360" cy="10058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Grafana: Network Overview. Alerts if drops below 96% threshold.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5522976"/>
            <a:ext cx="2560320" cy="1005840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Coverage Radius m
coverage_radius_m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52297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Estimated RF coverage radius computed from COST-231-Hata path loss model.
Larger radius = lower frequency band (n28 700 MHz vs n78 3500 MHz).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5998464"/>
            <a:ext cx="1371600" cy="50292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A2955"/>
                </a:solidFill>
              </a:rPr>
              <a:t>200 – 2000 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3672" y="5998464"/>
            <a:ext cx="3703320" cy="50292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175CA6"/>
                </a:solidFill>
              </a:rPr>
              <a:t>Not fed to LSTM — static per cell, does not change at runtime. Config-time only.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73568" y="5522976"/>
            <a:ext cx="4023360" cy="100584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Used by Planning API for capacity planning and DU assignment.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694944"/>
            <a:ext cx="256032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Extra KPI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694944"/>
            <a:ext cx="512064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3568" y="694944"/>
            <a:ext cx="402336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Where it is 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6510528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All 14 cell_kpi fields flow through InfluxDB. The KPI agent reads only the 9 it needs. Grafana dashboards visualise all 14.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7 DU-Level KPIs — Infrastructure Health of Each Distributed Unit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743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Written to 'du_kpi' measurement in InfluxDB every tick. Covers compute, memory, fronthaul, and signalling.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7472" y="6565392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BBBB"/>
                </a:solidFill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320040" cy="694944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" y="960120"/>
            <a:ext cx="19202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7E8A"/>
                </a:solidFill>
              </a:rPr>
              <a:t>active_ues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3744" y="960120"/>
            <a:ext cx="137160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Total 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922776" y="960120"/>
            <a:ext cx="393192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Total number of phones connected across all cells on this DU right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82127" y="960120"/>
            <a:ext cx="16916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DU-MLS-1 (12 cells): 0 – 10,800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960120"/>
            <a:ext cx="23774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55555"/>
                </a:solidFill>
              </a:rPr>
              <a:t>Sum of connected_ues per cell. High = DU is busy.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09928"/>
            <a:ext cx="320040" cy="694944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1709928"/>
            <a:ext cx="19202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7E8A"/>
                </a:solidFill>
              </a:rPr>
              <a:t>cell_count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3744" y="1709928"/>
            <a:ext cx="13716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Active Cells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22776" y="1709928"/>
            <a:ext cx="3931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How many cells are currently assigned to and active on this DU.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82127" y="1709928"/>
            <a:ext cx="16916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8 – 12 cells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709928"/>
            <a:ext cx="23774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55555"/>
                </a:solidFill>
              </a:rPr>
              <a:t>Changes when KPI agent moves cells between DUs.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459736"/>
            <a:ext cx="320040" cy="694944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" y="2459736"/>
            <a:ext cx="19202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C45008"/>
                </a:solidFill>
              </a:rPr>
              <a:t>cpu_pct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23744" y="2459736"/>
            <a:ext cx="137160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CPU Usage 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22776" y="2459736"/>
            <a:ext cx="393192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How much of the DU's processing power is used. L1/L2 baseband processing is CPU-heavy.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82127" y="2459736"/>
            <a:ext cx="16916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100 %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459736"/>
            <a:ext cx="23774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55555"/>
                </a:solidFill>
              </a:rPr>
              <a:t>cpu = 20 + load x 62. High at peak hours or after cell additions.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209544"/>
            <a:ext cx="320040" cy="694944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" y="3209544"/>
            <a:ext cx="19202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C45008"/>
                </a:solidFill>
              </a:rPr>
              <a:t>memory_pct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3744" y="3209544"/>
            <a:ext cx="13716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Memory Usage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22776" y="3209544"/>
            <a:ext cx="3931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How much RAM the DU is using. Stores UE contexts, buffers, scheduling queues.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82127" y="3209544"/>
            <a:ext cx="16916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100 %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3209544"/>
            <a:ext cx="23774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55555"/>
                </a:solidFill>
              </a:rPr>
              <a:t>memory = 30 + load x 45. Spikes if many cells assigned.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3959352"/>
            <a:ext cx="320040" cy="694944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" y="3959352"/>
            <a:ext cx="19202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75CA6"/>
                </a:solidFill>
              </a:rPr>
              <a:t>fronthaul_latency_us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23744" y="3959352"/>
            <a:ext cx="137160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Fronthaul Latency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22776" y="3959352"/>
            <a:ext cx="393192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Delay in microseconds on the eCPRI/CPRI link between DU and RU (radio unit on the tower).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82127" y="3959352"/>
            <a:ext cx="16916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50 – 200 microseconds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3959352"/>
            <a:ext cx="23774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55555"/>
                </a:solidFill>
              </a:rPr>
              <a:t>Must stay below 100 us for 5G NR timing requirements.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709159"/>
            <a:ext cx="320040" cy="694944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6072" y="4709159"/>
            <a:ext cx="19202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175CA6"/>
                </a:solidFill>
              </a:rPr>
              <a:t>processing_delay_ms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23744" y="4709159"/>
            <a:ext cx="13716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Processing Delay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22776" y="4709159"/>
            <a:ext cx="393192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Time the DU takes to process one L1/L2 scheduling cycle.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82127" y="4709159"/>
            <a:ext cx="16916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0.1 – 0.9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4709159"/>
            <a:ext cx="2377440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55555"/>
                </a:solidFill>
              </a:rPr>
              <a:t>Increases under high CPU load. &gt; 1 ms causes scheduling jitter.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5458968"/>
            <a:ext cx="320040" cy="694944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6072" y="5458968"/>
            <a:ext cx="19202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5A238C"/>
                </a:solidFill>
              </a:rPr>
              <a:t>f1_msg_per_sec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23744" y="5458968"/>
            <a:ext cx="137160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A2955"/>
                </a:solidFill>
              </a:rPr>
              <a:t>F1 Messages / sec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22776" y="5458968"/>
            <a:ext cx="393192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555555"/>
                </a:solidFill>
              </a:rPr>
              <a:t>Rate of F1-AP control messages exchanged between the DU and CU over the F1 interface.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82127" y="5458968"/>
            <a:ext cx="16916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0A2955"/>
                </a:solidFill>
              </a:rPr>
              <a:t>0 – 20,000 / sec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5458968"/>
            <a:ext cx="2377440" cy="694944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555555"/>
                </a:solidFill>
              </a:rPr>
              <a:t>f1_rate = active_ues x 0.5–2.0. Peaks during handovers and reconfigs.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76072" y="685800"/>
            <a:ext cx="192024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23744" y="685800"/>
            <a:ext cx="137160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22776" y="685800"/>
            <a:ext cx="393192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82127" y="685800"/>
            <a:ext cx="169164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Range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01200" y="685800"/>
            <a:ext cx="2377440" cy="27432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How computed / note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" y="623620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DU KPIs are NOT fed to the LSTM. They are monitored via Grafana (du_cu_performance dashboard) and used by the Orchestrator's query_network tool to report DU health to the LLM.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KPI Signatures — What Each Health State Looks Like in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743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How the LSTM learned to associate KPI patterns with the 5 health states (from train.py class specs)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7472" y="6565392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BBBB"/>
                </a:solidFill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1691640" cy="36576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Health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960120"/>
            <a:ext cx="1051560" cy="36576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PRB DL %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960120"/>
            <a:ext cx="960120" cy="36576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SINR dB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960120"/>
            <a:ext cx="777240" cy="36576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960120"/>
            <a:ext cx="960120" cy="36576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Power 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79" y="960120"/>
            <a:ext cx="1005840" cy="36576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Pkt Loss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19" y="960120"/>
            <a:ext cx="1005840" cy="36576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Tput Mbps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59" y="960120"/>
            <a:ext cx="685800" cy="36576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CQI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66759" y="960120"/>
            <a:ext cx="777240" cy="36576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BLER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3999" y="960120"/>
            <a:ext cx="1051560" cy="36576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Latency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325880"/>
            <a:ext cx="169164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B6F42"/>
                </a:solidFill>
              </a:rPr>
              <a:t>NORMAL (5G)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1325880"/>
            <a:ext cx="105156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6F42"/>
                </a:solidFill>
              </a:rPr>
              <a:t>55%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1325880"/>
            <a:ext cx="96012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6F42"/>
                </a:solidFill>
              </a:rPr>
              <a:t>20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325880"/>
            <a:ext cx="77724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6F42"/>
                </a:solidFill>
              </a:rPr>
              <a:t>350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1325880"/>
            <a:ext cx="96012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6F42"/>
                </a:solidFill>
              </a:rPr>
              <a:t>520 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79" y="1325880"/>
            <a:ext cx="100584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6F42"/>
                </a:solidFill>
              </a:rPr>
              <a:t>0.05%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19" y="1325880"/>
            <a:ext cx="100584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6F42"/>
                </a:solidFill>
              </a:rPr>
              <a:t>1400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59" y="1325880"/>
            <a:ext cx="68580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6F42"/>
                </a:solidFill>
              </a:rPr>
              <a:t>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59" y="1325880"/>
            <a:ext cx="77724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6F42"/>
                </a:solidFill>
              </a:rPr>
              <a:t>1.5%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3999" y="1325880"/>
            <a:ext cx="1051560" cy="868680"/>
          </a:xfrm>
          <a:prstGeom prst="rect">
            <a:avLst/>
          </a:prstGeom>
          <a:solidFill>
            <a:srgbClr val="C6EFCE"/>
          </a:solidFill>
          <a:ln>
            <a:solidFill>
              <a:srgbClr val="C6EF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B6F42"/>
                </a:solidFill>
              </a:rPr>
              <a:t>12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240280"/>
            <a:ext cx="1691640" cy="86868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45008"/>
                </a:solidFill>
              </a:rPr>
              <a:t>OVERLOAD (5G)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2240280"/>
            <a:ext cx="105156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94%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2240280"/>
            <a:ext cx="96012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11 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2240280"/>
            <a:ext cx="777240" cy="86868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45008"/>
                </a:solidFill>
              </a:rPr>
              <a:t>720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59" y="2240280"/>
            <a:ext cx="960120" cy="86868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45008"/>
                </a:solidFill>
              </a:rPr>
              <a:t>940 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79" y="2240280"/>
            <a:ext cx="100584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0.85%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19" y="2240280"/>
            <a:ext cx="1005840" cy="86868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45008"/>
                </a:solidFill>
              </a:rPr>
              <a:t>3100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59" y="2240280"/>
            <a:ext cx="68580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59" y="2240280"/>
            <a:ext cx="777240" cy="86868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45008"/>
                </a:solidFill>
              </a:rPr>
              <a:t>8.0%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3999" y="2240280"/>
            <a:ext cx="1051560" cy="868680"/>
          </a:xfrm>
          <a:prstGeom prst="rect">
            <a:avLst/>
          </a:prstGeom>
          <a:solidFill>
            <a:srgbClr val="FFEB9C"/>
          </a:solidFill>
          <a:ln>
            <a:solidFill>
              <a:srgbClr val="FFEB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45008"/>
                </a:solidFill>
              </a:rPr>
              <a:t>38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154680"/>
            <a:ext cx="169164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75CA6"/>
                </a:solidFill>
              </a:rPr>
              <a:t>UNDERLOAD (5G)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20240" y="3154680"/>
            <a:ext cx="105156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75CA6"/>
                </a:solidFill>
              </a:rPr>
              <a:t>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0" y="3154680"/>
            <a:ext cx="96012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75CA6"/>
                </a:solidFill>
              </a:rPr>
              <a:t>24 dB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3154680"/>
            <a:ext cx="77724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75CA6"/>
                </a:solidFill>
              </a:rPr>
              <a:t>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59" y="3154680"/>
            <a:ext cx="96012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75CA6"/>
                </a:solidFill>
              </a:rPr>
              <a:t>330 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79" y="3154680"/>
            <a:ext cx="100584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75CA6"/>
                </a:solidFill>
              </a:rPr>
              <a:t>0.01%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19" y="3154680"/>
            <a:ext cx="100584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75CA6"/>
                </a:solidFill>
              </a:rPr>
              <a:t>190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0959" y="3154680"/>
            <a:ext cx="68580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75CA6"/>
                </a:solidFill>
              </a:rPr>
              <a:t>14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59" y="3154680"/>
            <a:ext cx="77724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75CA6"/>
                </a:solidFill>
              </a:rPr>
              <a:t>0.3%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3999" y="3154680"/>
            <a:ext cx="1051560" cy="868680"/>
          </a:xfrm>
          <a:prstGeom prst="rect">
            <a:avLst/>
          </a:prstGeom>
          <a:solidFill>
            <a:srgbClr val="BDD7EE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75CA6"/>
                </a:solidFill>
              </a:rPr>
              <a:t>9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069080"/>
            <a:ext cx="169164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SINR LOW (5G)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20240" y="4069080"/>
            <a:ext cx="105156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00000"/>
                </a:solidFill>
              </a:rPr>
              <a:t>54%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71800" y="4069080"/>
            <a:ext cx="96012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1 dB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0" y="4069080"/>
            <a:ext cx="77724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00000"/>
                </a:solidFill>
              </a:rPr>
              <a:t>290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9159" y="4069080"/>
            <a:ext cx="96012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00000"/>
                </a:solidFill>
              </a:rPr>
              <a:t>580 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79" y="4069080"/>
            <a:ext cx="100584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1.60%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19" y="4069080"/>
            <a:ext cx="100584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00000"/>
                </a:solidFill>
              </a:rPr>
              <a:t>720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680959" y="4069080"/>
            <a:ext cx="68580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66759" y="4069080"/>
            <a:ext cx="77724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00000"/>
                </a:solidFill>
              </a:rPr>
              <a:t>12%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3999" y="4069080"/>
            <a:ext cx="105156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C00000"/>
                </a:solidFill>
              </a:rPr>
              <a:t>45 ms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4983480"/>
            <a:ext cx="169164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5A238C"/>
                </a:solidFill>
              </a:rPr>
              <a:t>POWER WASTE (5G)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20240" y="4983480"/>
            <a:ext cx="105156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A238C"/>
                </a:solidFill>
              </a:rPr>
              <a:t>13%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4983480"/>
            <a:ext cx="96012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A238C"/>
                </a:solidFill>
              </a:rPr>
              <a:t>24 dB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4983480"/>
            <a:ext cx="77724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A238C"/>
                </a:solidFill>
              </a:rPr>
              <a:t>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09159" y="4983480"/>
            <a:ext cx="960120" cy="868680"/>
          </a:xfrm>
          <a:prstGeom prst="rect">
            <a:avLst/>
          </a:prstGeom>
          <a:solidFill>
            <a:srgbClr val="FFC7CE"/>
          </a:solidFill>
          <a:ln>
            <a:solidFill>
              <a:srgbClr val="FFC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0000"/>
                </a:solidFill>
              </a:rPr>
              <a:t>880 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79" y="4983480"/>
            <a:ext cx="100584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A238C"/>
                </a:solidFill>
              </a:rPr>
              <a:t>0.01%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75119" y="4983480"/>
            <a:ext cx="100584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A238C"/>
                </a:solidFill>
              </a:rPr>
              <a:t>145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80959" y="4983480"/>
            <a:ext cx="68580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A238C"/>
                </a:solidFill>
              </a:rPr>
              <a:t>14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66759" y="4983480"/>
            <a:ext cx="77724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A238C"/>
                </a:solidFill>
              </a:rPr>
              <a:t>0.2%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3999" y="4983480"/>
            <a:ext cx="1051560" cy="868680"/>
          </a:xfrm>
          <a:prstGeom prst="rect">
            <a:avLst/>
          </a:prstGeom>
          <a:solidFill>
            <a:srgbClr val="E2EFDA"/>
          </a:solidFill>
          <a:ln>
            <a:solidFill>
              <a:srgbClr val="E2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5A238C"/>
                </a:solidFill>
              </a:rPr>
              <a:t>9 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" y="5559552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Red cells = the KPI values that are most diagnostic for that health state.
The LSTM learns to recognise these patterns across 6 consecutive timesteps — not just the snapshot values shown here, but the TREND leading up to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A2955"/>
          </a:solidFill>
          <a:ln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Summary — Full KPI Inventory of the KPI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12188952" cy="274320"/>
          </a:xfrm>
          <a:prstGeom prst="rect">
            <a:avLst/>
          </a:prstGeom>
          <a:solidFill>
            <a:srgbClr val="175CA6"/>
          </a:solidFill>
          <a:ln>
            <a:solidFill>
              <a:srgbClr val="175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21 total KPIs collected and used across the Malleswaram 4G/5G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77472" y="6565392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BBBBB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3749039" cy="475488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9 LSTM Input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8132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Fed to AI model every cycle
(model.py FEATURE_NORM)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965960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1.  prb_dl_pct      — Cell busy-ness %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441448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2.  sinr_db         — Signal clarity (dB)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916936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3.  connected_ues   — Active phones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392424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4.  power_w         — Electricity used (W)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867912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5.  packet_loss_pct — Dropped data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4343400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6.  dl_throughput_mbps — Downlink speed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4818888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7.  cqi             — Channel quality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5294376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8.  bler_pct        — Retransmission rate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5769864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9.  latency_ms      — Round-trip time (ms)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960120"/>
            <a:ext cx="3749039" cy="475488"/>
          </a:xfrm>
          <a:prstGeom prst="rect">
            <a:avLst/>
          </a:prstGeom>
          <a:solidFill>
            <a:srgbClr val="C45008"/>
          </a:solidFill>
          <a:ln>
            <a:solidFill>
              <a:srgbClr val="C450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Extra Cell 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148132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Stored in InfluxDB / Grafana
(not LSTM input)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965960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10. ul_throughput_mbps — Upload speed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441448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11. rsrp_dbm          — Signal strength (dBm)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916936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12. prb_ul_pct        — Upload capacity used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392424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13. ho_success_rate   — Handover success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867912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14. coverage_radius_m — RF coverage area (m)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960120"/>
            <a:ext cx="3749039" cy="475488"/>
          </a:xfrm>
          <a:prstGeom prst="rect">
            <a:avLst/>
          </a:prstGeom>
          <a:solidFill>
            <a:srgbClr val="5A238C"/>
          </a:solidFill>
          <a:ln>
            <a:solidFill>
              <a:srgbClr val="5A2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7 DU Infrastructure KPIs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148132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Per Distributed Unit health
('du_kpi' measurement)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965960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15. active_ues           — Total connected 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2441448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16. cell_count           — Cells on this DU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916936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17. cpu_pct              — CPU usage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392424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18. memory_pct           — RAM usage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3867912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19. fronthaul_latency_us — DU-to-RU delay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4343400"/>
            <a:ext cx="3749039" cy="457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20. processing_delay_ms  — Scheduling delay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4818888"/>
            <a:ext cx="3749039" cy="457200"/>
          </a:xfrm>
          <a:prstGeom prst="rect">
            <a:avLst/>
          </a:prstGeom>
          <a:solidFill>
            <a:srgbClr val="F0F2F5"/>
          </a:solidFill>
          <a:ln>
            <a:solidFill>
              <a:srgbClr val="F0F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0A2955"/>
                </a:solidFill>
              </a:rPr>
              <a:t>21. f1_msg_per_sec       — F1 interface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" y="6446520"/>
            <a:ext cx="11704320" cy="274320"/>
          </a:xfrm>
          <a:prstGeom prst="roundRect">
            <a:avLst/>
          </a:prstGeom>
          <a:solidFill>
            <a:srgbClr val="0A2955"/>
          </a:solidFill>
          <a:ln w="19050">
            <a:solidFill>
              <a:srgbClr val="0A2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46480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KPI Agent uses 9 of 21 KPIs for AI classification  ·  All 21 flow through InfluxDB  ·  Grafana shows all via 5 dashboards  ·  Orchestrator LLM queries any of them via query_network / query_cell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