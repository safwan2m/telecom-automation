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LSTM KPI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C8FF"/>
                </a:solidFill>
              </a:rPr>
              <a:t>Explained Simply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How AI watches 30 cells every 10 seconds and keeps the Malleswaram network healthy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2103120" cy="502920"/>
          </a:xfrm>
          <a:prstGeom prst="roundRect">
            <a:avLst/>
          </a:prstGeom>
          <a:solidFill>
            <a:srgbClr val="C6EFCE"/>
          </a:solidFill>
          <a:ln w="15240"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5943600"/>
            <a:ext cx="2103120" cy="502920"/>
          </a:xfrm>
          <a:prstGeom prst="roundRect">
            <a:avLst/>
          </a:prstGeom>
          <a:solidFill>
            <a:srgbClr val="FFEB9C"/>
          </a:solidFill>
          <a:ln w="15240"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45008"/>
                </a:solidFill>
              </a:rPr>
              <a:t>OVERLOAD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5943600"/>
            <a:ext cx="2103120" cy="502920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5CA6"/>
                </a:solidFill>
              </a:rPr>
              <a:t>UNDERLOAD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5943600"/>
            <a:ext cx="2103120" cy="502920"/>
          </a:xfrm>
          <a:prstGeom prst="roundRect">
            <a:avLst/>
          </a:prstGeom>
          <a:solidFill>
            <a:srgbClr val="FFC7CE"/>
          </a:solidFill>
          <a:ln w="15240"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00000"/>
                </a:solidFill>
              </a:rPr>
              <a:t>SINR 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5943600"/>
            <a:ext cx="2103120" cy="50292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A238C"/>
                </a:solidFill>
              </a:rPr>
              <a:t>POWER WASTE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A0C0"/>
                </a:solidFill>
              </a:rPr>
              <a:t>agents/kpi_agent/model.py  |  train.py  |  kpi_agent.py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Problem — Why Not Just a Threshold Rule?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 single reading misses trends. The LSTM reads 60 seconds of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5029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RULE-BASED  (current fallback)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91640"/>
            <a:ext cx="5303520" cy="347472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IF  prb_dl_pct &gt; 85%  THEN 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Looks at ONE reading at t=now
PRB = 86%  at  t=now
  → fires OVERLOAD alert immediately
But what if PRB was 87% last second
and is now DROPPING back to 70%?
   False alarm — no real problem!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257800"/>
            <a:ext cx="5303520" cy="640080"/>
          </a:xfrm>
          <a:prstGeom prst="roundRect">
            <a:avLst/>
          </a:prstGeom>
          <a:solidFill>
            <a:srgbClr val="FFC7CE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Misses trends  ·  False alarms  ·  Acts too 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097280"/>
            <a:ext cx="5303520" cy="502920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LSTM  (AI model)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91640"/>
            <a:ext cx="5303520" cy="3474720"/>
          </a:xfrm>
          <a:prstGeom prst="roundRect">
            <a:avLst/>
          </a:prstGeom>
          <a:solidFill>
            <a:srgbClr val="F0FFF4"/>
          </a:solidFill>
          <a:ln w="1524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F42"/>
                </a:solidFill>
              </a:rPr>
              <a:t>Reads the last 6 readings (60 seconds)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331720"/>
            <a:ext cx="749808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A2955"/>
                </a:solidFill>
              </a:rPr>
              <a:t>t-50s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724912"/>
            <a:ext cx="749808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2" y="2331720"/>
            <a:ext cx="749808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A2955"/>
                </a:solidFill>
              </a:rPr>
              <a:t>t-40s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2724912"/>
            <a:ext cx="749808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68%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75904" y="2331720"/>
            <a:ext cx="749808" cy="34747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A2955"/>
                </a:solidFill>
              </a:rPr>
              <a:t>t-30s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5904" y="2724912"/>
            <a:ext cx="749808" cy="34747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2331720"/>
            <a:ext cx="749808" cy="34747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A2955"/>
                </a:solidFill>
              </a:rPr>
              <a:t>t-20s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576" y="2724912"/>
            <a:ext cx="749808" cy="34747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82%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2331720"/>
            <a:ext cx="749808" cy="347472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A2955"/>
                </a:solidFill>
              </a:rPr>
              <a:t>t-10s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85248" y="2724912"/>
            <a:ext cx="749808" cy="347472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89%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2331720"/>
            <a:ext cx="749808" cy="347472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A2955"/>
                </a:solidFill>
              </a:rPr>
              <a:t>t=now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2724912"/>
            <a:ext cx="749808" cy="347472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94%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004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Trend: PRB rising consistently for 60s
  Predicts OVERLOAD BEFORE it peaks
  Acts while there is still time to
  move the cell to a lighter DU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257800"/>
            <a:ext cx="5303520" cy="640080"/>
          </a:xfrm>
          <a:prstGeom prst="roundRect">
            <a:avLst/>
          </a:prstGeom>
          <a:solidFill>
            <a:srgbClr val="C6EFCE"/>
          </a:solidFill>
          <a:ln w="1524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6F42"/>
                </a:solidFill>
              </a:rPr>
              <a:t>Catches trends early  ·  Fewer false alarms  ·  Proactive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9260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2955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What the LSTM Sees — 9 KPI Features × 6 Timesteps (60 seconds)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Each cell gets one reading every 10 s  →  6 readings = 1 input tensor  (shape: 1 × 6 ×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78992"/>
            <a:ext cx="3200400" cy="47548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/ Timestep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078992"/>
            <a:ext cx="141732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t-50s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78992"/>
            <a:ext cx="141732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t-40s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78992"/>
            <a:ext cx="141732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t-30s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078992"/>
            <a:ext cx="141732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t-20s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078992"/>
            <a:ext cx="141732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t-10s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0" y="1078992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t=now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554480"/>
            <a:ext cx="320040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A2955"/>
                </a:solidFill>
              </a:rPr>
              <a:t>PRB DL %
(0 – 100 %)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554480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554480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554480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554480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1554480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53%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029967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SINR dB
(-5 – +30 dB)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029967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17.2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029967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16.8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029967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17.1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029967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17.5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029967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16.9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029967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17.3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505456"/>
            <a:ext cx="320040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Connected UEs
(0 – 800)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505456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505456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505456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505456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2505456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505456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322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980944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Power W
(0 – 1200 W)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29809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809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9809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29809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498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29809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493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2980944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496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456432"/>
            <a:ext cx="320040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Packet Loss %
(0 – 5 %)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3456432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456432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456432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3456432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3456432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3456432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0.03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931920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Throughput Mbps
(0 – 4000 Mbps)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39319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9319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9319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39319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39319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3931920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1255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407408"/>
            <a:ext cx="320040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CQI
(0 – 15)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4407408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4407408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407408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4407408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4407408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0" y="4407408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882896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BLER %
(0 – 30 %)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9000" y="48828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1.4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46320" y="48828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1.5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48828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1.3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48828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98280" y="48828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1.4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0" y="4882896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5358383"/>
            <a:ext cx="320040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Latency ms
(0 – 500 ms)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29000" y="5358383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0" y="5358383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5358383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80960" y="5358383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8280" y="5358383"/>
            <a:ext cx="1417320" cy="47548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15600" y="5358383"/>
            <a:ext cx="141732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</a:rPr>
              <a:t>All 54 values (9 features × 6 timesteps) are normalised to [0, 1] before feeding to the LSTM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78240" y="1078992"/>
            <a:ext cx="3200400" cy="5394960"/>
          </a:xfrm>
          <a:prstGeom prst="roundRect">
            <a:avLst/>
          </a:prstGeom>
          <a:solidFill>
            <a:srgbClr val="F0F4FF"/>
          </a:solidFill>
          <a:ln w="1524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6968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75CA6"/>
                </a:solidFill>
              </a:rPr>
              <a:t>model.py constants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69680" y="160020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55"/>
                </a:solidFill>
              </a:rPr>
              <a:t>SEQ_LEN  = 6
(6 timesteps)
N_FEATURES = 9
(9 KPI fields)
N_CLASSES = 5
(output labels)
Input shape:
(1, 6, 9)
batch × time × feat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Normalisation — Making All Values Comparable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Raw KPI values have very different scales. Normalise everything to 0–1 before the LSTM sees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1612880" cy="685800"/>
          </a:xfrm>
          <a:prstGeom prst="roundRect">
            <a:avLst/>
          </a:prstGeom>
          <a:solidFill>
            <a:srgbClr val="0A2955"/>
          </a:solidFill>
          <a:ln w="15240"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normalised  =  ( value  -  minimum )  / 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228600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920240"/>
            <a:ext cx="155448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Raw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920240"/>
            <a:ext cx="109728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920240"/>
            <a:ext cx="109728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164592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Normalised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920240"/>
            <a:ext cx="384048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13432"/>
            <a:ext cx="228600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PRB DL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313432"/>
            <a:ext cx="15544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313432"/>
            <a:ext cx="10972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313432"/>
            <a:ext cx="10972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13432"/>
            <a:ext cx="164592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0.94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313432"/>
            <a:ext cx="38404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Near full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06624"/>
            <a:ext cx="228600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SINR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706624"/>
            <a:ext cx="15544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706624"/>
            <a:ext cx="10972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-5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706624"/>
            <a:ext cx="10972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06624"/>
            <a:ext cx="164592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0.20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706624"/>
            <a:ext cx="3840480" cy="39319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Poor signal quality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99816"/>
            <a:ext cx="228600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Connected 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099816"/>
            <a:ext cx="1554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720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099816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3099816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099816"/>
            <a:ext cx="164592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3099816"/>
            <a:ext cx="3840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Heavily loaded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93008"/>
            <a:ext cx="2286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Power 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49300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493008"/>
            <a:ext cx="1097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3493008"/>
            <a:ext cx="1097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493008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0.73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493008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High but not peak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86200"/>
            <a:ext cx="228600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Pkt Loss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3886200"/>
            <a:ext cx="1554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886200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886200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886200"/>
            <a:ext cx="164592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886200"/>
            <a:ext cx="3840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Some congestion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79392"/>
            <a:ext cx="2286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Throughput Mbps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4279392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3050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4279392"/>
            <a:ext cx="1097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4279392"/>
            <a:ext cx="1097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79392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0.76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4279392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Good throughput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72583"/>
            <a:ext cx="228600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CQI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672583"/>
            <a:ext cx="1554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672583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4672583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672583"/>
            <a:ext cx="164592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0.47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672583"/>
            <a:ext cx="3840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Degraded channel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065776"/>
            <a:ext cx="22860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BLER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5065776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5065776"/>
            <a:ext cx="1097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5065776"/>
            <a:ext cx="1097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065776"/>
            <a:ext cx="1645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5065776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Elevated errors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458968"/>
            <a:ext cx="228600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Latency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5458968"/>
            <a:ext cx="1554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38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0" y="5458968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80" y="5458968"/>
            <a:ext cx="10972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5458968"/>
            <a:ext cx="164592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5458968"/>
            <a:ext cx="3840480" cy="39319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Normal latency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1722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</a:rPr>
              <a:t>Why? — PRB is 0-100, Power is 0-1200, Latency is 0-500. Without normalisation the LSTM would learn 'power matters more' just because its numbers are bigger.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Inside One LSTM Cell — Gates and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Three gates decide what to remember, what to forget, and what to pass forward at each timestep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CELL STATE  —  Long-Term Memory   (carries information across all 6 timesteps without vanishing)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474720" cy="438912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FORGET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76272"/>
            <a:ext cx="3474720" cy="11887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What from the past
is no longer relevant?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29000"/>
            <a:ext cx="347472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95959"/>
                </a:solidFill>
              </a:rPr>
              <a:t>Example:
"Last hour's off-peak
load data — forget it.
Current peak hour
is what matters."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3364992"/>
            <a:ext cx="0" cy="91440"/>
          </a:xfrm>
          <a:prstGeom prst="line">
            <a:avLst/>
          </a:prstGeom>
          <a:ln w="25400">
            <a:solidFill>
              <a:srgbClr val="C450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51960" y="1691640"/>
            <a:ext cx="3474720" cy="438912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76272"/>
            <a:ext cx="3474720" cy="11887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What new information
should I remember?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429000"/>
            <a:ext cx="347472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95959"/>
                </a:solidFill>
              </a:rPr>
              <a:t>Example:
"PRB just jumped
from 60% to 89%.
That spike is important
— store it."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3364992"/>
            <a:ext cx="0" cy="91440"/>
          </a:xfrm>
          <a:prstGeom prst="line">
            <a:avLst/>
          </a:prstGeom>
          <a:ln w="254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046720" y="1691640"/>
            <a:ext cx="3474720" cy="438912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76272"/>
            <a:ext cx="3474720" cy="11887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What do I pass
to the next timestep?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429000"/>
            <a:ext cx="347472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95959"/>
                </a:solidFill>
              </a:rPr>
              <a:t>Example:
"Rising PRB trend
over 5 timesteps
— send that signal
forward."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3364992"/>
            <a:ext cx="0" cy="91440"/>
          </a:xfrm>
          <a:prstGeom prst="line">
            <a:avLst/>
          </a:prstGeom>
          <a:ln w="25400">
            <a:solidFill>
              <a:srgbClr val="5A238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HIDDEN STATE  —  Short-Term Memory   (output of this timestep, passed as input to the next)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76272" y="5212080"/>
            <a:ext cx="0" cy="73152"/>
          </a:xfrm>
          <a:prstGeom prst="line">
            <a:avLst/>
          </a:prstGeom>
          <a:ln w="25400">
            <a:solidFill>
              <a:srgbClr val="0A29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71032" y="5212080"/>
            <a:ext cx="0" cy="73152"/>
          </a:xfrm>
          <a:prstGeom prst="line">
            <a:avLst/>
          </a:prstGeom>
          <a:ln w="25400">
            <a:solidFill>
              <a:srgbClr val="0A29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65792" y="5212080"/>
            <a:ext cx="0" cy="73152"/>
          </a:xfrm>
          <a:prstGeom prst="line">
            <a:avLst/>
          </a:prstGeom>
          <a:ln w="25400">
            <a:solidFill>
              <a:srgbClr val="0A29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</a:rPr>
              <a:t>The CELL STATE solves the 'vanishing gradient' problem — it carries signals across many timesteps without losing them, so the LSTM can learn from events that happened 50 seconds ago.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Bidirectional — The LSTM Reads Forward AND Backward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Two LSTMs run in parallel. Their outputs are concatenated → richer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737360" cy="6400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t-50s
PRB 60%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7712" y="1005840"/>
            <a:ext cx="1737360" cy="6400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t-40s
PRB 68%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9664" y="1005840"/>
            <a:ext cx="1737360" cy="6400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t-30s
PRB 75%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005840"/>
            <a:ext cx="1737360" cy="6400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t-20s
PRB 82%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1005840"/>
            <a:ext cx="1737360" cy="6400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t-10s
PRB 89%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005840"/>
            <a:ext cx="1737360" cy="6400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t=now
PRB 94%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11430000" cy="502920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Forward LSTM  →  reads t-50s ... t=now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7E8A"/>
                </a:solidFill>
              </a:rPr>
              <a:t>"PRB is climbing steadily — this looks like sustained overload building up"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64208"/>
            <a:ext cx="10789920" cy="0"/>
          </a:xfrm>
          <a:prstGeom prst="line">
            <a:avLst/>
          </a:prstGeom>
          <a:ln w="3175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5760" y="2971800"/>
            <a:ext cx="11430000" cy="502920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Backward LSTM  ←  reads t=now ... t-50s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238C"/>
                </a:solidFill>
              </a:rPr>
              <a:t>"At t=now PRB=94% (confirmed peak). Earlier values confirm the trend was real, not a spike"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31520" y="2944368"/>
            <a:ext cx="10789920" cy="0"/>
          </a:xfrm>
          <a:prstGeom prst="line">
            <a:avLst/>
          </a:prstGeom>
          <a:ln w="31750">
            <a:solidFill>
              <a:srgbClr val="5A238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828800" y="4114800"/>
            <a:ext cx="8503920" cy="530352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Concatenate forward + backward outputs  →  128-dimensional vector  (64 forward + 64 backward hidden units)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800600"/>
            <a:ext cx="5760720" cy="1005840"/>
          </a:xfrm>
          <a:prstGeom prst="roundRect">
            <a:avLst/>
          </a:prstGeom>
          <a:solidFill>
            <a:srgbClr val="C6EFCE"/>
          </a:solidFill>
          <a:ln w="1524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8463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F42"/>
                </a:solidFill>
              </a:rPr>
              <a:t>Result:  OVERLOAD predicted at 97% confidence
The backward pass confirmed the trend was real, not noise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645152"/>
            <a:ext cx="0" cy="173736"/>
          </a:xfrm>
          <a:prstGeom prst="line">
            <a:avLst/>
          </a:prstGeom>
          <a:ln w="25400">
            <a:solidFill>
              <a:srgbClr val="0A29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Full Architecture — From Raw KPIs to a Classification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Two stacked bidirectional LSTM layers followed by a two-layer MLP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200400" cy="65836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INPUT TENSOR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005840"/>
            <a:ext cx="8321040" cy="65836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Shape: (1, 6, 9)  —  1 cell  ×  6 timesteps  ×  9 normalised KPI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1664208"/>
            <a:ext cx="0" cy="109728"/>
          </a:xfrm>
          <a:prstGeom prst="line">
            <a:avLst/>
          </a:prstGeom>
          <a:ln w="25400">
            <a:solidFill>
              <a:srgbClr val="175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73936"/>
            <a:ext cx="3200400" cy="65836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BiLSTM LAYER 1   (hidden=64, bidirectional)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773936"/>
            <a:ext cx="8321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Reads each of the 6 timesteps in both directions  →  output shape (1, 6, 128)   [ 64 fwd + 64 bwd 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432304"/>
            <a:ext cx="0" cy="109728"/>
          </a:xfrm>
          <a:prstGeom prst="line">
            <a:avLst/>
          </a:prstGeom>
          <a:ln w="254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2542032"/>
            <a:ext cx="3200400" cy="65836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BiLSTM LAYER 2   (hidden=64, bidirectional, dropout 25%)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542032"/>
            <a:ext cx="8321040" cy="65836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Deeper temporal abstraction  →  output shape (1, 6, 128)  ·  dropout prevents overfitting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3200400"/>
            <a:ext cx="0" cy="109728"/>
          </a:xfrm>
          <a:prstGeom prst="line">
            <a:avLst/>
          </a:prstGeom>
          <a:ln w="254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3310128"/>
            <a:ext cx="3200400" cy="65836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TAKE LAST TIMESTEP  out[:, -1, :]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3310128"/>
            <a:ext cx="8321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Extract only the final timestep's combined state  →  shape (1, 128)  ·  this is the 'summary' of the whole 60s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3968496"/>
            <a:ext cx="0" cy="109728"/>
          </a:xfrm>
          <a:prstGeom prst="line">
            <a:avLst/>
          </a:prstGeom>
          <a:ln w="25400">
            <a:solidFill>
              <a:srgbClr val="5A238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74320" y="4078224"/>
            <a:ext cx="3200400" cy="65836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LINEAR 128 → 64  +  ReLU  +  Dropout 25%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4078224"/>
            <a:ext cx="8321040" cy="65836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First MLP layer: compress and non-linearise the LSTM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4736592"/>
            <a:ext cx="0" cy="109728"/>
          </a:xfrm>
          <a:prstGeom prst="line">
            <a:avLst/>
          </a:prstGeom>
          <a:ln w="25400">
            <a:solidFill>
              <a:srgbClr val="C450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4320" y="4846320"/>
            <a:ext cx="3200400" cy="65836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LINEAR 64 →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4846320"/>
            <a:ext cx="8321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Second MLP layer: project to 5 output scores (one per class)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5504688"/>
            <a:ext cx="0" cy="109728"/>
          </a:xfrm>
          <a:prstGeom prst="line">
            <a:avLst/>
          </a:prstGeom>
          <a:ln w="25400">
            <a:solidFill>
              <a:srgbClr val="C450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4320" y="5614416"/>
            <a:ext cx="3200400" cy="658368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SOFTMAX  →  Probabilities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5614416"/>
            <a:ext cx="8321040" cy="658368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Convert raw scores to probabilities that sum to 1.0   e.g. [NORMAL 0.04, OVERLOAD 0.93, ...]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1005840"/>
            <a:ext cx="8321040" cy="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</a:rPr>
              <a:t>model.py  KPIClassifier  ·  Total parameters ≈ 145 K  ·  Trains in ~2 minutes on CPU (50 epochs, 5 000 synthetic samples)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 Output Classes — What Decision Does the LSTM Make?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Softmax outputs a probability for each class. The highest probability wins. MIN_CONFIDENCE = 70%.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256032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005840"/>
            <a:ext cx="1828800" cy="8686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95959"/>
                </a:solidFill>
              </a:rPr>
              <a:t>70% of real cells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005840"/>
            <a:ext cx="3749039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PRB 40-70%  ·  Good SINR  ·  Stable 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005840"/>
            <a:ext cx="283464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6F42"/>
                </a:solidFill>
              </a:rPr>
              <a:t>No action needed.
Network is healthy.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502920" cy="86868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21408"/>
            <a:ext cx="256032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45008"/>
                </a:solidFill>
              </a:rPr>
              <a:t>OVERLOAD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21408"/>
            <a:ext cx="1828800" cy="8686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95959"/>
                </a:solidFill>
              </a:rPr>
              <a:t>15% of real cells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121408"/>
            <a:ext cx="3749039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PRB &gt;85%  ·  Packet loss rising  ·  Many 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121408"/>
            <a:ext cx="283464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45008"/>
                </a:solidFill>
              </a:rPr>
              <a:t>Auto-move cell to
lightest available DU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36976"/>
            <a:ext cx="502920" cy="86868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36976"/>
            <a:ext cx="256032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75CA6"/>
                </a:solidFill>
              </a:rPr>
              <a:t>UNDERLOAD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3236976"/>
            <a:ext cx="1828800" cy="8686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95959"/>
                </a:solidFill>
              </a:rPr>
              <a:t>8% of real cells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3236976"/>
            <a:ext cx="3749039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PRB &lt;20%  ·  Very few UEs  ·  Wasted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236976"/>
            <a:ext cx="283464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75CA6"/>
                </a:solidFill>
              </a:rPr>
              <a:t>Flag as sleep candidate
(energy saving / DTX)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52544"/>
            <a:ext cx="502920" cy="8686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352544"/>
            <a:ext cx="256032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0000"/>
                </a:solidFill>
              </a:rPr>
              <a:t>SINR 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352544"/>
            <a:ext cx="1828800" cy="8686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95959"/>
                </a:solidFill>
              </a:rPr>
              <a:t>5% of real cells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4352544"/>
            <a:ext cx="3749039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SINR &lt;5 dB  ·  High BLER  ·  Low CQI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4352544"/>
            <a:ext cx="28346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CRITICAL alert +
request PCI re-optimisation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68112"/>
            <a:ext cx="502920" cy="868680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468112"/>
            <a:ext cx="256032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A238C"/>
                </a:solidFill>
              </a:rPr>
              <a:t>POWER WASTE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5468112"/>
            <a:ext cx="1828800" cy="8686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95959"/>
                </a:solidFill>
              </a:rPr>
              <a:t>2% of real cells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5468112"/>
            <a:ext cx="3749039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High power draw  ·  Very few UEs (&lt;15)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5468112"/>
            <a:ext cx="283464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A238C"/>
                </a:solidFill>
              </a:rPr>
              <a:t>WARNING alert +
recommend DTX / sleep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777240"/>
            <a:ext cx="2560320" cy="22860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777240"/>
            <a:ext cx="1828800" cy="22860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777240"/>
            <a:ext cx="3749039" cy="22860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Typical KPI Signature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777240"/>
            <a:ext cx="2834640" cy="22860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SON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</a:rPr>
              <a:t>Frequency is the realistic class distribution used in training (train.py CLASS_COUNTS). Weighted sampler ensures rare classes are learned even at 2%.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Training — How the Model Was Taught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Synthetic data generated from two separate profiles: 5G NR (64T64R) and 4G LTE (4T4R)  ·  60 epochs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955"/>
                </a:solidFill>
              </a:rPr>
              <a:t>Class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645920" cy="50292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417320"/>
            <a:ext cx="4480559" cy="502920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3,500  (70%)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75688"/>
            <a:ext cx="1645920" cy="50292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45008"/>
                </a:solidFill>
              </a:rPr>
              <a:t>OVERLOAD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075688"/>
            <a:ext cx="960120" cy="50292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750  (15%)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34056"/>
            <a:ext cx="1645920" cy="50292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75CA6"/>
                </a:solidFill>
              </a:rPr>
              <a:t>UNDERLOAD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734056"/>
            <a:ext cx="512064" cy="5029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400  (8%)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92424"/>
            <a:ext cx="1645920" cy="50292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SINR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392424"/>
            <a:ext cx="320040" cy="5029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250  (5%)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50791"/>
            <a:ext cx="1645920" cy="50292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A238C"/>
                </a:solidFill>
              </a:rPr>
              <a:t>POWER WASTE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4050791"/>
            <a:ext cx="128016" cy="502920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100  (2%)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005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955"/>
                </a:solidFill>
              </a:rPr>
              <a:t>Two Sub-profiles per 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1554480" cy="38404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5G n78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87000" y="1371600"/>
            <a:ext cx="164592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4G B3/B40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810512"/>
            <a:ext cx="15544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NORMAL power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87000" y="1810512"/>
            <a:ext cx="804672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520 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37392" y="1810512"/>
            <a:ext cx="804672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120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28600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OVERLOAD 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2286000"/>
            <a:ext cx="804672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720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37392" y="2286000"/>
            <a:ext cx="804672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230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761488"/>
            <a:ext cx="15544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UNDERLOAD PRB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2761488"/>
            <a:ext cx="804672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37392" y="2761488"/>
            <a:ext cx="804672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236976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SINR_LOW BLER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87000" y="3236976"/>
            <a:ext cx="804672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37392" y="3236976"/>
            <a:ext cx="804672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712464"/>
            <a:ext cx="15544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PW_WASTE power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87000" y="3712464"/>
            <a:ext cx="804672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880 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37392" y="3712464"/>
            <a:ext cx="804672" cy="457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175 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29200"/>
            <a:ext cx="155448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5458968"/>
            <a:ext cx="1554480" cy="10972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5 000 sequences
(5G + 4G)
6 steps each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828800" y="5230368"/>
            <a:ext cx="137160" cy="0"/>
          </a:xfrm>
          <a:prstGeom prst="line">
            <a:avLst/>
          </a:prstGeom>
          <a:ln w="25400">
            <a:solidFill>
              <a:srgbClr val="175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965960" y="5029200"/>
            <a:ext cx="1554480" cy="38404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Shuffle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458968"/>
            <a:ext cx="1554480" cy="10972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Random permutation
to mix classes
and technologies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20439" y="5230368"/>
            <a:ext cx="137161" cy="0"/>
          </a:xfrm>
          <a:prstGeom prst="line">
            <a:avLst/>
          </a:prstGeom>
          <a:ln w="254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657600" y="5029200"/>
            <a:ext cx="1554480" cy="38404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Sample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5458968"/>
            <a:ext cx="1554480" cy="10972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WeightedRandom-
Sampler balances
rare classes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212080" y="5230368"/>
            <a:ext cx="137160" cy="0"/>
          </a:xfrm>
          <a:prstGeom prst="line">
            <a:avLst/>
          </a:prstGeom>
          <a:ln w="25400">
            <a:solidFill>
              <a:srgbClr val="5A238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349240" y="5029200"/>
            <a:ext cx="1554480" cy="38404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240" y="5458968"/>
            <a:ext cx="1554480" cy="10972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60 epochs
Adam + Cosine
lr annealing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03720" y="5230368"/>
            <a:ext cx="137160" cy="0"/>
          </a:xfrm>
          <a:prstGeom prst="line">
            <a:avLst/>
          </a:prstGeom>
          <a:ln w="25400">
            <a:solidFill>
              <a:srgbClr val="C450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040880" y="5029200"/>
            <a:ext cx="1554480" cy="384048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5458968"/>
            <a:ext cx="1554480" cy="10972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kpi_model.pt
Loaded at
container start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60196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</a:rPr>
              <a:t>Temporal drift added between timesteps so the LSTM learns trends, not just point-in-time snapshots  |  80/20 train/val split  |  Gradient clipping at 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Live Pipeline — From a Cell Reading to an Automated SON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Every 10 seconds per cell  ·  30 cells  ·  first 60 s uses rule-based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146304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DU Simulator
(or real DU)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Pushes cell_kpi
to InfluxDB
every 10 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91640" y="1243584"/>
            <a:ext cx="109728" cy="0"/>
          </a:xfrm>
          <a:prstGeom prst="line">
            <a:avLst/>
          </a:prstGeom>
          <a:ln w="25400">
            <a:solidFill>
              <a:srgbClr val="175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01368" y="1005840"/>
            <a:ext cx="146304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InfluxDB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Stores time-series
KPI telemetry
for all 30 cells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64408" y="1243584"/>
            <a:ext cx="109728" cy="0"/>
          </a:xfrm>
          <a:prstGeom prst="line">
            <a:avLst/>
          </a:prstGeom>
          <a:ln w="254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74136" y="1005840"/>
            <a:ext cx="1463040" cy="47548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KPI Agent
polls /query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Reads latest
9 KPI fields
for each cell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37176" y="1243584"/>
            <a:ext cx="109728" cy="0"/>
          </a:xfrm>
          <a:prstGeom prst="line">
            <a:avLst/>
          </a:prstGeom>
          <a:ln w="25400">
            <a:solidFill>
              <a:srgbClr val="C450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46904" y="1005840"/>
            <a:ext cx="1463040" cy="47548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Sliding Buffer
(deque maxlen=6)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6904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Appends reading.
Full after 60 s.
Older readings drop off.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9944" y="1243584"/>
            <a:ext cx="109728" cy="0"/>
          </a:xfrm>
          <a:prstGeom prst="line">
            <a:avLst/>
          </a:prstGeom>
          <a:ln w="25400">
            <a:solidFill>
              <a:srgbClr val="5A238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19672" y="1005840"/>
            <a:ext cx="146304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Normalise
+ LSTM Infer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9 raw values
→ normalised
→ model(x)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82712" y="1243584"/>
            <a:ext cx="109728" cy="0"/>
          </a:xfrm>
          <a:prstGeom prst="line">
            <a:avLst/>
          </a:prstGeom>
          <a:ln w="254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92440" y="1005840"/>
            <a:ext cx="1463040" cy="475488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Softmax
Probabilities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[0.04, 0.93,
 0.01, 0.01,
 0.01]
conf=93%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5480" y="1243584"/>
            <a:ext cx="109728" cy="0"/>
          </a:xfrm>
          <a:prstGeom prst="line">
            <a:avLst/>
          </a:prstGeom>
          <a:ln w="25400">
            <a:solidFill>
              <a:srgbClr val="1B6F4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665208" y="1005840"/>
            <a:ext cx="1463040" cy="47548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SON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8" y="1527048"/>
            <a:ext cx="146304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OVERLOAD:
Move cell to
lightest DU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834640"/>
            <a:ext cx="5760720" cy="594360"/>
          </a:xfrm>
          <a:prstGeom prst="roundRect">
            <a:avLst/>
          </a:prstGeom>
          <a:solidFill>
            <a:srgbClr val="FFEB9C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285292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08"/>
                </a:solidFill>
              </a:rPr>
              <a:t>Confidence gate: if conf &lt; 70% (MIN_CONFIDENCE) — log only, do NOT 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834640"/>
            <a:ext cx="2743200" cy="59436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First 60 s: Rule-based fallback
(buffer not full yet)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00200" y="2542032"/>
            <a:ext cx="0" cy="310896"/>
          </a:xfrm>
          <a:prstGeom prst="line">
            <a:avLst/>
          </a:prstGeom>
          <a:ln w="25400">
            <a:solidFill>
              <a:srgbClr val="175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28600" y="3703320"/>
            <a:ext cx="2834640" cy="38404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OVERLOAD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087368"/>
            <a:ext cx="2834640" cy="914400"/>
          </a:xfrm>
          <a:prstGeom prst="roundRect">
            <a:avLst/>
          </a:prstGeom>
          <a:solidFill>
            <a:srgbClr val="FFEB9C"/>
          </a:solidFill>
          <a:ln w="1524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45008"/>
                </a:solidFill>
              </a:rPr>
              <a:t>Move cell to lightest DU
Cooldown: 30 s between moves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3703320"/>
            <a:ext cx="2834640" cy="38404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UNDERLOAD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18688" y="4087368"/>
            <a:ext cx="2834640" cy="914400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75CA6"/>
                </a:solidFill>
              </a:rPr>
              <a:t>TRAFFIC_STEER SON action
Recommend handover to enable DTX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3703320"/>
            <a:ext cx="2834640" cy="3840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SINR 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4087368"/>
            <a:ext cx="2834640" cy="914400"/>
          </a:xfrm>
          <a:prstGeom prst="roundRect">
            <a:avLst/>
          </a:prstGeom>
          <a:solidFill>
            <a:srgbClr val="FFC7CE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CRITICAL alert
Request PCI re-optimisation from Planning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8864" y="3703320"/>
            <a:ext cx="2834640" cy="38404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POWER WASTE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98864" y="4087368"/>
            <a:ext cx="2834640" cy="9144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A238C"/>
                </a:solidFill>
              </a:rPr>
              <a:t>WARNING alert
DTX_RECOMMEND: estimated 35% power saving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55778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</a:rPr>
              <a:t>SON actions are also written to InfluxDB 'son_actions' measurement for audit and Grafana dashboard visibility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" y="594360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NORMAL cells: no action  —  cycle logs: "Cycle N | cells=30 | normal=24 | overload=4 | underload=1 | sinr_low=1 | pwr_waste=0"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